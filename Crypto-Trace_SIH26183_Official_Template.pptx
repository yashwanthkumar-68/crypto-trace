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CRYPTOTRACE — BLOCKCHAIN FORENSICS &amp;</a:t>
            </a:r>
            <a:br/>
            <a:r>
              <a:t>TRANSACTION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Problem Statement ID - </a:t>
            </a:r>
            <a:r>
              <a:rPr sz="1300">
                <a:solidFill>
                  <a:srgbClr val="0F172A"/>
                </a:solidFill>
              </a:rPr>
              <a:t>SIH26183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Problem Statement Title - </a:t>
            </a:r>
            <a:r>
              <a:rPr sz="1300">
                <a:solidFill>
                  <a:srgbClr val="0F172A"/>
                </a:solidFill>
              </a:rPr>
              <a:t>Real-Time Identification of Fraud-Linked Cryptocurrency Exchanges from Victim-Reported Suspect Wallet Addresses through Automated Blockchain Analytics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Ministry / Organization - </a:t>
            </a:r>
            <a:r>
              <a:rPr sz="1300">
                <a:solidFill>
                  <a:srgbClr val="0F172A"/>
                </a:solidFill>
              </a:rPr>
              <a:t>Ministry of Home Affairs (MHA) / Indian Cyber Crime Coordination Centre (I4C) / NCRP 1930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Theme - </a:t>
            </a:r>
            <a:r>
              <a:rPr sz="1300">
                <a:solidFill>
                  <a:srgbClr val="0F172A"/>
                </a:solidFill>
              </a:rPr>
              <a:t>Blockchain &amp; Cybersecurity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PS Category - </a:t>
            </a:r>
            <a:r>
              <a:rPr sz="130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Team ID - </a:t>
            </a:r>
            <a:r>
              <a:rPr sz="1300">
                <a:solidFill>
                  <a:srgbClr val="0F172A"/>
                </a:solidFill>
              </a:rPr>
              <a:t>SIH26183-BB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• Team Name - </a:t>
            </a:r>
            <a:r>
              <a:rPr sz="1300">
                <a:solidFill>
                  <a:srgbClr val="0F172A"/>
                </a:solidFill>
              </a:rPr>
              <a:t>Byte Builders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554480"/>
            <a:ext cx="32004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2000" b="1">
                <a:solidFill>
                  <a:srgbClr val="EA580C"/>
                </a:solidFill>
              </a:defRPr>
            </a:pPr>
            <a:r>
              <a:t>SIH 2026</a:t>
            </a:r>
          </a:p>
          <a:p>
            <a:br/>
            <a:pPr algn="ctr">
              <a:defRPr sz="1800" b="1">
                <a:solidFill>
                  <a:srgbClr val="102C57"/>
                </a:solidFill>
              </a:defRPr>
            </a:pPr>
            <a:r>
              <a:t>🛡️ CRYPTO-TRACE</a:t>
            </a:r>
            <a:br/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Defensive Cybersecurity</a:t>
            </a:r>
            <a:br/>
            <a:r>
              <a:t>AML &amp; VASP Tracing</a:t>
            </a:r>
            <a:br/>
            <a:r>
              <a:t>Sub-60s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CRYPTOTRACE — BLOCKCHAIN FORENSICS &amp;</a:t>
            </a:r>
            <a:br/>
            <a:r>
              <a:t>TRANSACTION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77295" cy="41148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OVERALL WORKFLOW — FROM BLOCKCHAIN DATA TO INVESTIGATIVE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1. INPUT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Victim Complaint Intake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Register complaint &amp; victim details</a:t>
            </a:r>
            <a:br/>
            <a:r>
              <a:t>• Submit wallet address / tx hash</a:t>
            </a:r>
            <a:br/>
            <a:r>
              <a:t>• Attach chats &amp; evidence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2. DATA RETRIEVAL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Fetch Blockchain Data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Web3.py RPC &amp; Etherscan API</a:t>
            </a:r>
            <a:br/>
            <a:r>
              <a:t>• EIP-55 Checksum Normalization</a:t>
            </a:r>
            <a:br/>
            <a:r>
              <a:t>• Token transfers &amp; bridge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3. RECONSTRUCT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Multi-Hop Traversal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NetworkX directed multigraph</a:t>
            </a:r>
            <a:br/>
            <a:r>
              <a:t>• Bounded k-hop BFS (1 to 5 hops)</a:t>
            </a:r>
            <a:br/>
            <a:r>
              <a:t>• Peeling chain &amp; transit wallets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4. ANALYZE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Risk &amp; Attribution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11-Rule Deterministic Risk Engine</a:t>
            </a:r>
            <a:br/>
            <a:r>
              <a:t>• Rapid Exit (&lt;900s) detection</a:t>
            </a:r>
            <a:br/>
            <a:r>
              <a:t>• VASP cluster matching (Binance)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5. VISUALIZE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Forensic Canvas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Interactive Cytoscape.js graph</a:t>
            </a:r>
            <a:br/>
            <a:r>
              <a:t>• 4-Tier Forensic Truth Taxonomy</a:t>
            </a:r>
            <a:br/>
            <a:r>
              <a:t>• Color-coded hops &amp; target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737360"/>
            <a:ext cx="173736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6. OUTPUT</a:t>
            </a:r>
          </a:p>
          <a:p>
            <a:pPr>
              <a:spcAft>
                <a:spcPts val="800"/>
              </a:spcAft>
              <a:defRPr sz="1150" b="1">
                <a:solidFill>
                  <a:srgbClr val="102C57"/>
                </a:solidFill>
              </a:defRPr>
            </a:pPr>
            <a:r>
              <a:t>Certified Report</a:t>
            </a:r>
          </a:p>
          <a:p>
            <a:pPr>
              <a:lnSpc>
                <a:spcPct val="115000"/>
              </a:lnSpc>
              <a:defRPr sz="950">
                <a:solidFill>
                  <a:srgbClr val="0F172A"/>
                </a:solidFill>
              </a:defRPr>
            </a:pPr>
            <a:r>
              <a:t>• SHA-256 Tamper-Evident Locker</a:t>
            </a:r>
            <a:br/>
            <a:r>
              <a:t>• BSA Sec 63 / Sec 65B PDF Dossier</a:t>
            </a:r>
            <a:br/>
            <a:r>
              <a:t>• Sec 91 CrPC Subpoena Targets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77295" cy="41148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🎯 ACCURATE (Real On-Chain Data)   |   🔍 TRANSPARENT (Explainable Risk)   |   ⚡ SCALABLE (Multi-Chain BFS)   |   🌐 GLOBALLY AWARE   |   ⚖️ INVESTIGATION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102C57"/>
                </a:solidFill>
              </a:defRPr>
            </a:pPr>
            <a:r>
              <a:t>TECHNOLOGIES TO BE USED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• AI / ML
  </a:t>
            </a:r>
            <a:r>
              <a:rPr sz="1000">
                <a:solidFill>
                  <a:srgbClr val="0F172A"/>
                </a:solidFill>
              </a:rPr>
              <a:t>Python 3.12 • NetworkX • Scikit-Learn • NumPy &amp; Pandas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• BLOCKCHAIN &amp; WEB3
  </a:t>
            </a:r>
            <a:r>
              <a:rPr sz="1000">
                <a:solidFill>
                  <a:srgbClr val="0F172A"/>
                </a:solidFill>
              </a:rPr>
              <a:t>Web3.py • Etherscan API • Ethereum / Sepolia Nodes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• FORENSICS &amp; TRUST
  </a:t>
            </a:r>
            <a:r>
              <a:rPr sz="1000">
                <a:solidFill>
                  <a:srgbClr val="0F172A"/>
                </a:solidFill>
              </a:rPr>
              <a:t>SHA-256 Hash Engine • ReportLab PDF • BSA Sec 63 / Sec 65B Locker • FATF Rec 15/16 VASP Registry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• APPLICATION &amp; FRONTEND
  </a:t>
            </a:r>
            <a:r>
              <a:rPr sz="1000">
                <a:solidFill>
                  <a:srgbClr val="0F172A"/>
                </a:solidFill>
              </a:rPr>
              <a:t>React 18 + TypeScript • Cytoscape.js • Tailwind CSS + Lucide Icons + Vite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• BACKEND &amp; INFRASTRUCTURE
  </a:t>
            </a:r>
            <a:r>
              <a:rPr sz="1000">
                <a:solidFill>
                  <a:srgbClr val="0F172A"/>
                </a:solidFill>
              </a:rPr>
              <a:t>FastAPI • SQLAlchemy ORM • Supabase / PostgreSQL / SQLite • Docker &amp; Render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7607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102C57"/>
                </a:solidFill>
              </a:defRPr>
            </a:pPr>
            <a:r>
              <a:t>METHODOLOGY &amp; PROCESS FOR IMPLEMENTATION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01. DATA ACQUISITION: </a:t>
            </a:r>
            <a:r>
              <a:rPr sz="950">
                <a:solidFill>
                  <a:srgbClr val="0F172A"/>
                </a:solidFill>
              </a:rPr>
              <a:t>Connect to RPC/APIs, fetch blocks/txs, support ETH/Sepolia/Polygon.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02. TRANSACTION PARSING: </a:t>
            </a:r>
            <a:r>
              <a:rPr sz="950">
                <a:solidFill>
                  <a:srgbClr val="0F172A"/>
                </a:solidFill>
              </a:rPr>
              <a:t>EIP-55 checksum, ERC-20 decoding, address/token label mapping.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03. TRANSACTION GRAPH: </a:t>
            </a:r>
            <a:r>
              <a:rPr sz="950">
                <a:solidFill>
                  <a:srgbClr val="0F172A"/>
                </a:solidFill>
              </a:rPr>
              <a:t>Build wallet-to-wallet multigraph, identify clusters, visualize flow.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04. RISK ANALYSIS: </a:t>
            </a:r>
            <a:r>
              <a:rPr sz="950">
                <a:solidFill>
                  <a:srgbClr val="0F172A"/>
                </a:solidFill>
              </a:rPr>
              <a:t>Detect suspicious patterns, 11-rule engine, generate report &amp;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840480"/>
            <a:ext cx="5760720" cy="246888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FFFFFF"/>
                </a:solidFill>
              </a:defRPr>
            </a:pPr>
            <a:r>
              <a:t>WORKING PROTOTYPE CAPABILITIES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Hop Depth Traversal: 1 Hop, 2 Hops, 3 Hops, 5 Hops interactive expansion.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4-Tier Forensic Truth Badges: BLOCKCHAIN FACT, SYSTEM INFERENCE, AI ASSESSMENT, INVESTIGATOR DECISION.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RAG Investigation Copilot: Zero-hallucination assistant with Web Speech API voice control.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Subpoena Priority Ranker: Ranks VASP exchange targets for Sec 91 CrPC notices.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15544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250">
                <a:solidFill>
                  <a:srgbClr val="0284C7"/>
                </a:solidFill>
              </a:defRPr>
            </a:pPr>
            <a:r>
              <a:t>Technical Feasibility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Tech Stack: React, FastAPI, NetworkX, Web3.py, Python ML.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Core Modules: Transaction parsing, graph construction, anomaly detection.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Scalable &amp; Modular: Supports multi-chain (Ethereum, Polygon, BSC).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Deployable: Containerized (Docker) and cloud-ready (Render).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5486400" cy="15544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250">
                <a:solidFill>
                  <a:srgbClr val="EA580C"/>
                </a:solidFill>
              </a:defRPr>
            </a:pPr>
            <a:r>
              <a:t>Operational Feasibility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End-to-End Workflow: Complaint input -&gt; Data retrieval -&gt; Graph analysis -&gt; Risk scoring -&gt; Report.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Usability: Designed for LEA investigators, regulators, and general users.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Modes: Real-time analysis and batch processing.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Maintainability: Modular codebase, easy network model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5486400" cy="15544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250">
                <a:solidFill>
                  <a:srgbClr val="16A34A"/>
                </a:solidFill>
              </a:defRPr>
            </a:pPr>
            <a:r>
              <a:t>Financial Feasibility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Low Data Cost: Public RPC/Indexed APIs.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Minimal Infrastructure: Runs on low-cost cloud services.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No Paid Datasets: Uses 100% open-source tools and libraries.</a:t>
            </a:r>
          </a:p>
          <a:p>
            <a:pPr>
              <a:spcAft>
                <a:spcPts val="150"/>
              </a:spcAft>
              <a:defRPr sz="950">
                <a:solidFill>
                  <a:srgbClr val="0F172A"/>
                </a:solidFill>
              </a:defRPr>
            </a:pPr>
            <a:r>
              <a:t>• Scalable: Student-friendly, minimal hardware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937760"/>
          </a:xfrm>
          <a:prstGeom prst="round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FFFFFF"/>
                </a:solidFill>
              </a:defRPr>
            </a:pPr>
            <a:r>
              <a:t>PHASED ROADMAP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1: Blockchain Data Foundation
</a:t>
            </a:r>
            <a:r>
              <a:rPr sz="950">
                <a:solidFill>
                  <a:srgbClr val="E2E8F0"/>
                </a:solidFill>
              </a:rPr>
              <a:t>Blockchain data ingestion, wallet validation, transaction retrieval, token-transfer parsing — establishing core forensic data pipeline.
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2: Multi-Hop Transaction Intelligence
</a:t>
            </a:r>
            <a:r>
              <a:rPr sz="950">
                <a:solidFill>
                  <a:srgbClr val="E2E8F0"/>
                </a:solidFill>
              </a:rPr>
              <a:t>Graph-based fund-flow reconstruction, multi-hop tracing, transaction clustering and suspicious-pattern detection across related wallets.
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3: Forensic Investigation Platform
</a:t>
            </a:r>
            <a:r>
              <a:rPr sz="950">
                <a:solidFill>
                  <a:srgbClr val="E2E8F0"/>
                </a:solidFill>
              </a:rPr>
              <a:t>Interactive transaction graphs, entity/VASP intelligence, risk-aware analysis, evidence correlation and investigation-ready reporting.
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4: Continuous Monitoring &amp; Scalable Deployment
</a:t>
            </a:r>
            <a:r>
              <a:rPr sz="950">
                <a:solidFill>
                  <a:srgbClr val="E2E8F0"/>
                </a:solidFill>
              </a:rPr>
              <a:t>Real-time wallet monitoring, automated alerts, multi-chain expansion and production-grade blockchain investigation platform.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9496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150">
                <a:solidFill>
                  <a:srgbClr val="0284C7"/>
                </a:solidFill>
              </a:defRPr>
            </a:pPr>
            <a:r>
              <a:t>FOR INVESTIGATORS &amp; LAW ENFORCEMENT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Faster and more accurate investigations (sub-60s execution).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Visual transaction flow &amp; link analysis.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Identifies illicit activities (money laundering, scam, ransomware).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Generates court-ready, explainable reports (BSA Sec 63).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Reduces manual effort and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539496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150">
                <a:solidFill>
                  <a:srgbClr val="102C57"/>
                </a:solidFill>
              </a:defRPr>
            </a:pPr>
            <a:r>
              <a:t>FOR GOVERNMENT &amp; REGULATORS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Improves financial transparency.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Supports AML/CFT compliance (FATF Rec 15/16).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Helps monitor suspicious entities and high-risk wallets.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Aids policy making with data-driven insights.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Strengthens national security and cybercrime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9496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150">
                <a:solidFill>
                  <a:srgbClr val="16A34A"/>
                </a:solidFill>
              </a:defRPr>
            </a:pPr>
            <a:r>
              <a:t>FOR CITIZENS &amp; GENERAL PUBLIC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Safer and more trustworthy crypto ecosystem.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Reduces crypto-related scams and frauds.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Increases transparency in financial systems.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Builds trust in digital assets.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Protects users from malicious &amp; fraudulent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31920"/>
            <a:ext cx="539496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b="1" sz="1150">
                <a:solidFill>
                  <a:srgbClr val="EA580C"/>
                </a:solidFill>
              </a:defRPr>
            </a:pPr>
            <a:r>
              <a:t>FOR RESEARCH &amp; FUTURE DEVELOPMENT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Open and modular architecture.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Can be extended to new blockchains.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Enables advanced research in graph analytics &amp; anomaly detection.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Supports integration of new AI/ML models.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Contributes to a more secure and transparent Web3 ecosystem.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Byte</a:t>
            </a:r>
            <a:br/>
            <a: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C57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3716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</a:t>
            </a:r>
          </a:p>
          <a:p>
            <a:pPr algn="ctr">
              <a:defRPr sz="1400" b="1">
                <a:solidFill>
                  <a:srgbClr val="102C57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[01] ELSEVIER - </a:t>
            </a:r>
            <a:r>
              <a:rPr b="1" sz="1000">
                <a:solidFill>
                  <a:srgbClr val="102C57"/>
                </a:solidFill>
              </a:rPr>
              <a:t>Analysis of Cryptocurrency Transactions from a Network Perspective (2021)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Transaction network analysis</a:t>
            </a:r>
            <a:br/>
            <a:r>
              <a:t>• Entity recognition &amp; pattern detection</a:t>
            </a:r>
            <a:br/>
            <a:r>
              <a:t>• Illicit activity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[02] arXiv - </a:t>
            </a:r>
            <a:r>
              <a:rPr b="1" sz="1000">
                <a:solidFill>
                  <a:srgbClr val="102C57"/>
                </a:solidFill>
              </a:rPr>
              <a:t>Anti-Money Laundering in Bitcoin via Graph Convolutional Networks (2019)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Graph-based transaction analysis</a:t>
            </a:r>
            <a:br/>
            <a:r>
              <a:t>• Illicit transaction classification</a:t>
            </a:r>
            <a:br/>
            <a:r>
              <a:t>• Elliptic dataset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[03] MDPI - </a:t>
            </a:r>
            <a:r>
              <a:rPr b="1" sz="1000">
                <a:solidFill>
                  <a:srgbClr val="102C57"/>
                </a:solidFill>
              </a:rPr>
              <a:t>Bitcoin Money Laundering Detection via Subgraph Contrastive Learning (2024)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Subgraph analysis using GNN</a:t>
            </a:r>
            <a:br/>
            <a:r>
              <a:t>• Money laundering detection</a:t>
            </a:r>
            <a:br/>
            <a:r>
              <a:t>• Wallet relationship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[04] ELSEVIER - </a:t>
            </a:r>
            <a:r>
              <a:rPr b="1" sz="1000">
                <a:solidFill>
                  <a:srgbClr val="102C57"/>
                </a:solidFill>
              </a:rPr>
              <a:t>Ethereum Fraud Detection via Joint Transaction Language &amp; Graph Learning (2025)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Transaction semantics + graph learning</a:t>
            </a:r>
            <a:br/>
            <a:r>
              <a:t>• Fraud detection in Ethereum</a:t>
            </a:r>
            <a:br/>
            <a:r>
              <a:t>• Combines textual &amp; graph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[05] ELSEVIER - </a:t>
            </a:r>
            <a:r>
              <a:rPr b="1" sz="1000">
                <a:solidFill>
                  <a:srgbClr val="102C57"/>
                </a:solidFill>
              </a:rPr>
              <a:t>Phishing Scams Detection via Temporal Graph Attention Network in Ethereum (2023)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Temporal transaction graphs</a:t>
            </a:r>
            <a:br/>
            <a:r>
              <a:t>• Wallet feature analysis</a:t>
            </a:r>
            <a:br/>
            <a:r>
              <a:t>• Phishing address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486400" cy="1508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</a:pPr>
            <a:r>
              <a:rPr b="1" sz="1000">
                <a:solidFill>
                  <a:srgbClr val="0284C7"/>
                </a:solidFill>
              </a:rPr>
              <a:t>[06] EMERALD - </a:t>
            </a:r>
            <a:r>
              <a:rPr b="1" sz="1000">
                <a:solidFill>
                  <a:srgbClr val="102C57"/>
                </a:solidFill>
              </a:rPr>
              <a:t>Forensic Investigation of Suspected Money Laundering Activities over Ethereum (2026)</a:t>
            </a:r>
          </a:p>
          <a:p>
            <a:pPr>
              <a:lnSpc>
                <a:spcPct val="110000"/>
              </a:lnSpc>
              <a:defRPr sz="850">
                <a:solidFill>
                  <a:srgbClr val="0F172A"/>
                </a:solidFill>
              </a:defRPr>
            </a:pPr>
            <a:r>
              <a:t>• Machine learning based investigation</a:t>
            </a:r>
            <a:br/>
            <a:r>
              <a:t>• Suspicious address identification</a:t>
            </a:r>
            <a:br/>
            <a:r>
              <a:t>• Ethereum money laundering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