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514D1-02FD-4F7D-A138-5ADE27CC5A8A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4EF4A-32F9-49D1-BB4C-ECAACDA95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3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4EF4A-32F9-49D1-BB4C-ECAACDA9580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33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4EF4A-32F9-49D1-BB4C-ECAACDA9580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964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4EF4A-32F9-49D1-BB4C-ECAACDA9580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85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112" y="315912"/>
            <a:ext cx="1044777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80748" y="9758981"/>
            <a:ext cx="4086678" cy="384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08251" y="9758981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02063" y="2072169"/>
            <a:ext cx="6953250" cy="7734300"/>
            <a:chOff x="9566796" y="2074035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9566796" y="2074035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63911" y="3370568"/>
              <a:ext cx="4805267" cy="51383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99527" y="197291"/>
            <a:ext cx="121304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5435" algn="l"/>
                <a:tab pos="5377815" algn="l"/>
                <a:tab pos="10688320" algn="l"/>
              </a:tabLst>
            </a:pPr>
            <a:r>
              <a:rPr sz="6000" spc="-10" dirty="0">
                <a:solidFill>
                  <a:srgbClr val="1F497D"/>
                </a:solidFill>
                <a:latin typeface="Garamond"/>
                <a:cs typeface="Garamond"/>
              </a:rPr>
              <a:t>SMART</a:t>
            </a:r>
            <a:r>
              <a:rPr sz="6000" dirty="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sz="6000" spc="-10" dirty="0">
                <a:solidFill>
                  <a:srgbClr val="1F497D"/>
                </a:solidFill>
                <a:latin typeface="Garamond"/>
                <a:cs typeface="Garamond"/>
              </a:rPr>
              <a:t>INDIA</a:t>
            </a:r>
            <a:r>
              <a:rPr sz="6000" dirty="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sz="6000" spc="-10" dirty="0">
                <a:solidFill>
                  <a:srgbClr val="1F497D"/>
                </a:solidFill>
                <a:latin typeface="Garamond"/>
                <a:cs typeface="Garamond"/>
              </a:rPr>
              <a:t>HACKATHON</a:t>
            </a:r>
            <a:r>
              <a:rPr sz="6000" dirty="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sz="6000" spc="-20" dirty="0">
                <a:solidFill>
                  <a:srgbClr val="1F497D"/>
                </a:solidFill>
                <a:latin typeface="Garamond"/>
                <a:cs typeface="Garamond"/>
              </a:rPr>
              <a:t>2026</a:t>
            </a:r>
            <a:endParaRPr sz="60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201" y="1561001"/>
            <a:ext cx="13106400" cy="8068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CRYPTOTRACE — BLOCKCHAIN FORENSICS &amp; TRANSACTION INTELLIGENCE</a:t>
            </a:r>
          </a:p>
          <a:p/>
          <a:p>
            <a:r>
              <a:t>• Problem Statement ID - SIH26183</a:t>
            </a:r>
          </a:p>
          <a:p>
            <a:r>
              <a:t>• Problem Statement Title - Real-Time Identification of Fraud-Linked Cryptocurrency Exchanges from Victim-Reported Suspect Wallet Addresses through Automated Blockchain Analytics</a:t>
            </a:r>
          </a:p>
          <a:p>
            <a:r>
              <a:t>• Ministry / Organization - Ministry of Home Affairs (MHA) / Indian Cyber Crime Coordination Centre (I4C) / NCRP 1930</a:t>
            </a:r>
          </a:p>
          <a:p>
            <a:r>
              <a:t>• Theme - Blockchain &amp; Cybersecurity</a:t>
            </a:r>
          </a:p>
          <a:p>
            <a:r>
              <a:t>• PS Category - Software</a:t>
            </a:r>
          </a:p>
          <a:p>
            <a:r>
              <a:t>• Team ID - SIH26183-BB</a:t>
            </a:r>
          </a:p>
          <a:p>
            <a:r>
              <a:t>• Team Name - Byte Builders</a:t>
            </a: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78688" y="480531"/>
            <a:ext cx="3373746" cy="1593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654" y="392849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8"/>
                </a:moveTo>
                <a:lnTo>
                  <a:pt x="1908817" y="699962"/>
                </a:lnTo>
                <a:lnTo>
                  <a:pt x="1888574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4"/>
                </a:lnTo>
                <a:lnTo>
                  <a:pt x="1654176" y="1053322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2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1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9" y="440970"/>
                </a:lnTo>
                <a:lnTo>
                  <a:pt x="1888574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6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2957" y="609629"/>
            <a:ext cx="1219200" cy="825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6034" marR="5080" indent="-13970">
              <a:lnSpc>
                <a:spcPts val="3229"/>
              </a:lnSpc>
              <a:spcBef>
                <a:spcPts val="204"/>
              </a:spcBef>
            </a:pPr>
            <a:r>
              <a:rPr lang="en-US" sz="2400" b="0" dirty="0">
                <a:latin typeface="Calibri"/>
                <a:cs typeface="Calibri"/>
              </a:rPr>
              <a:t>   Byte</a:t>
            </a:r>
            <a:br>
              <a:rPr lang="en-US" sz="2400" b="0" dirty="0">
                <a:latin typeface="Calibri"/>
                <a:cs typeface="Calibri"/>
              </a:rPr>
            </a:br>
            <a:r>
              <a:rPr lang="en-US" sz="2400" b="0" dirty="0">
                <a:latin typeface="Calibri"/>
                <a:cs typeface="Calibri"/>
              </a:rPr>
              <a:t>Builders</a:t>
            </a:r>
            <a:endParaRPr sz="2400" b="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11400" y="75513"/>
            <a:ext cx="3068946" cy="12585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94888" y="503373"/>
            <a:ext cx="1119076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Aft>
                <a:spcPts val="2500"/>
              </a:spcAft>
              <a:tabLst>
                <a:tab pos="3484245" algn="l"/>
                <a:tab pos="6516370" algn="l"/>
                <a:tab pos="8667115" algn="l"/>
              </a:tabLst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CRYPTOTRACE — BLOCKCHAIN FORENSICS &amp;      TRANSACTION INTELLIGENCE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7055851" y="10676645"/>
            <a:ext cx="216534" cy="281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A43A3-7361-05EA-3773-8371B027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6" y="1798578"/>
            <a:ext cx="11785120" cy="36028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0E5476-883C-74E5-1454-2D7EEFA00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0" y="5464401"/>
            <a:ext cx="18288000" cy="40734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48680D-8F0A-59D4-C137-65925E3DCDAA}"/>
              </a:ext>
            </a:extLst>
          </p:cNvPr>
          <p:cNvSpPr txBox="1"/>
          <p:nvPr/>
        </p:nvSpPr>
        <p:spPr>
          <a:xfrm>
            <a:off x="4800600" y="10676645"/>
            <a:ext cx="66294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52145">
              <a:lnSpc>
                <a:spcPts val="2090"/>
              </a:lnSpc>
            </a:pPr>
            <a:r>
              <a:rPr lang="en-IN" dirty="0"/>
              <a:t>@SIH Idea submission- </a:t>
            </a:r>
            <a:r>
              <a:rPr lang="en-IN" spc="-10" dirty="0"/>
              <a:t>Template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50902-CF10-0EB6-4041-CD8B37ADE7F7}"/>
              </a:ext>
            </a:extLst>
          </p:cNvPr>
          <p:cNvSpPr txBox="1"/>
          <p:nvPr/>
        </p:nvSpPr>
        <p:spPr>
          <a:xfrm>
            <a:off x="6019800" y="9732818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@SIH Idea submission- </a:t>
            </a:r>
            <a:r>
              <a:rPr lang="en-IN" spc="-10" dirty="0">
                <a:solidFill>
                  <a:schemeClr val="bg1"/>
                </a:solidFill>
              </a:rPr>
              <a:t>Template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A88AC15-B128-EDAB-B8D1-898EAF07E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2060" y="1306903"/>
            <a:ext cx="5532540" cy="4120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15945" y="112464"/>
            <a:ext cx="82365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685" algn="l"/>
              </a:tabLst>
            </a:pPr>
            <a:r>
              <a:rPr spc="-10" dirty="0"/>
              <a:t>TECHNICAL</a:t>
            </a:r>
            <a:r>
              <a:rPr dirty="0"/>
              <a:t>	</a:t>
            </a:r>
            <a:r>
              <a:rPr spc="-10" dirty="0"/>
              <a:t>APPROACH</a:t>
            </a:r>
          </a:p>
        </p:txBody>
      </p:sp>
      <p:sp>
        <p:nvSpPr>
          <p:cNvPr id="7" name="object 7"/>
          <p:cNvSpPr/>
          <p:nvPr/>
        </p:nvSpPr>
        <p:spPr>
          <a:xfrm>
            <a:off x="765681" y="155872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5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8" y="808004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2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9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13157" y="305099"/>
            <a:ext cx="1249610" cy="8489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034" marR="5080" indent="-13970">
              <a:lnSpc>
                <a:spcPts val="3220"/>
              </a:lnSpc>
              <a:spcBef>
                <a:spcPts val="220"/>
              </a:spcBef>
            </a:pPr>
            <a:r>
              <a:rPr lang="en-US" sz="2800" b="0" dirty="0">
                <a:latin typeface="Calibri"/>
                <a:cs typeface="Calibri"/>
              </a:rPr>
              <a:t>   Byte</a:t>
            </a:r>
            <a:br>
              <a:rPr lang="en-US" sz="2800" b="0" dirty="0">
                <a:latin typeface="Calibri"/>
                <a:cs typeface="Calibri"/>
              </a:rPr>
            </a:br>
            <a:r>
              <a:rPr lang="en-US" sz="2800" b="0" dirty="0">
                <a:latin typeface="Calibri"/>
                <a:cs typeface="Calibri"/>
              </a:rPr>
              <a:t>Builders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07788" y="1716791"/>
            <a:ext cx="9525" cy="7461884"/>
          </a:xfrm>
          <a:custGeom>
            <a:avLst/>
            <a:gdLst/>
            <a:ahLst/>
            <a:cxnLst/>
            <a:rect l="l" t="t" r="r" b="b"/>
            <a:pathLst>
              <a:path w="9525" h="7461884">
                <a:moveTo>
                  <a:pt x="9143" y="7461503"/>
                </a:moveTo>
                <a:lnTo>
                  <a:pt x="0" y="7461503"/>
                </a:lnTo>
                <a:lnTo>
                  <a:pt x="0" y="0"/>
                </a:lnTo>
                <a:lnTo>
                  <a:pt x="9143" y="0"/>
                </a:lnTo>
                <a:lnTo>
                  <a:pt x="9143" y="7461503"/>
                </a:lnTo>
                <a:close/>
              </a:path>
            </a:pathLst>
          </a:custGeom>
          <a:solidFill>
            <a:srgbClr val="E6EC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2988" y="1972824"/>
            <a:ext cx="3932554" cy="13970"/>
          </a:xfrm>
          <a:custGeom>
            <a:avLst/>
            <a:gdLst/>
            <a:ahLst/>
            <a:cxnLst/>
            <a:rect l="l" t="t" r="r" b="b"/>
            <a:pathLst>
              <a:path w="3932554" h="13969">
                <a:moveTo>
                  <a:pt x="3931937" y="13715"/>
                </a:moveTo>
                <a:lnTo>
                  <a:pt x="0" y="13715"/>
                </a:lnTo>
                <a:lnTo>
                  <a:pt x="0" y="0"/>
                </a:lnTo>
                <a:lnTo>
                  <a:pt x="3931937" y="0"/>
                </a:lnTo>
                <a:lnTo>
                  <a:pt x="3931937" y="13715"/>
                </a:lnTo>
                <a:close/>
              </a:path>
            </a:pathLst>
          </a:custGeom>
          <a:solidFill>
            <a:srgbClr val="123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64988" y="4381283"/>
            <a:ext cx="8756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90" dirty="0">
                <a:solidFill>
                  <a:srgbClr val="FFFFFF"/>
                </a:solidFill>
                <a:latin typeface="Calibri"/>
                <a:cs typeface="Calibri"/>
              </a:rPr>
              <a:t>CERTUS-</a:t>
            </a:r>
            <a:r>
              <a:rPr sz="1300" b="1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00" b="1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60198" y="-16329"/>
            <a:ext cx="3373746" cy="1593503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765681" y="1565554"/>
            <a:ext cx="3048637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155" dirty="0">
                <a:solidFill>
                  <a:srgbClr val="12314E"/>
                </a:solidFill>
                <a:latin typeface="Calibri"/>
                <a:cs typeface="Calibri"/>
              </a:rPr>
              <a:t>TECHNOLOGIES</a:t>
            </a:r>
            <a:r>
              <a:rPr sz="1700" b="1" spc="375" dirty="0">
                <a:solidFill>
                  <a:srgbClr val="12314E"/>
                </a:solidFill>
                <a:latin typeface="Calibri"/>
                <a:cs typeface="Calibri"/>
              </a:rPr>
              <a:t> </a:t>
            </a:r>
            <a:r>
              <a:rPr sz="1700" b="1" spc="80" dirty="0">
                <a:solidFill>
                  <a:srgbClr val="12314E"/>
                </a:solidFill>
                <a:latin typeface="Calibri"/>
                <a:cs typeface="Calibri"/>
              </a:rPr>
              <a:t>TO</a:t>
            </a:r>
            <a:r>
              <a:rPr sz="1700" b="1" spc="380" dirty="0">
                <a:solidFill>
                  <a:srgbClr val="12314E"/>
                </a:solidFill>
                <a:latin typeface="Calibri"/>
                <a:cs typeface="Calibri"/>
              </a:rPr>
              <a:t> </a:t>
            </a:r>
            <a:r>
              <a:rPr sz="1700" b="1" spc="90" dirty="0">
                <a:solidFill>
                  <a:srgbClr val="12314E"/>
                </a:solidFill>
                <a:latin typeface="Calibri"/>
                <a:cs typeface="Calibri"/>
              </a:rPr>
              <a:t>BE</a:t>
            </a:r>
            <a:r>
              <a:rPr sz="1700" b="1" spc="380" dirty="0">
                <a:solidFill>
                  <a:srgbClr val="12314E"/>
                </a:solidFill>
                <a:latin typeface="Calibri"/>
                <a:cs typeface="Calibri"/>
              </a:rPr>
              <a:t> </a:t>
            </a:r>
            <a:r>
              <a:rPr sz="1700" b="1" spc="105" dirty="0">
                <a:solidFill>
                  <a:srgbClr val="12314E"/>
                </a:solidFill>
                <a:latin typeface="Calibri"/>
                <a:cs typeface="Calibri"/>
              </a:rPr>
              <a:t>USED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xfrm>
            <a:off x="7070817" y="9555533"/>
            <a:ext cx="4086678" cy="38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214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xfrm>
            <a:off x="17498320" y="9555533"/>
            <a:ext cx="216534" cy="281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3" name="object 43"/>
          <p:cNvSpPr txBox="1"/>
          <p:nvPr/>
        </p:nvSpPr>
        <p:spPr>
          <a:xfrm>
            <a:off x="780287" y="2107597"/>
            <a:ext cx="1653901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07975" algn="l"/>
                <a:tab pos="513715" algn="l"/>
              </a:tabLst>
            </a:pPr>
            <a:r>
              <a:rPr sz="2000" b="1" dirty="0">
                <a:solidFill>
                  <a:srgbClr val="6E808F"/>
                </a:solidFill>
                <a:latin typeface="Calibri"/>
                <a:cs typeface="Calibri"/>
              </a:rPr>
              <a:t>A</a:t>
            </a:r>
            <a:r>
              <a:rPr sz="2000" b="1" spc="-30" dirty="0">
                <a:solidFill>
                  <a:srgbClr val="6E808F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6E808F"/>
                </a:solidFill>
                <a:latin typeface="Calibri"/>
                <a:cs typeface="Calibri"/>
              </a:rPr>
              <a:t>I</a:t>
            </a:r>
            <a:r>
              <a:rPr sz="2000" b="1" dirty="0">
                <a:solidFill>
                  <a:srgbClr val="6E808F"/>
                </a:solidFill>
                <a:latin typeface="Calibri"/>
                <a:cs typeface="Calibri"/>
              </a:rPr>
              <a:t>	</a:t>
            </a:r>
            <a:r>
              <a:rPr sz="2000" b="1" spc="-50" dirty="0">
                <a:solidFill>
                  <a:srgbClr val="6E808F"/>
                </a:solidFill>
                <a:latin typeface="Calibri"/>
                <a:cs typeface="Calibri"/>
              </a:rPr>
              <a:t>/</a:t>
            </a:r>
            <a:r>
              <a:rPr sz="2000" b="1" dirty="0">
                <a:solidFill>
                  <a:srgbClr val="6E808F"/>
                </a:solidFill>
                <a:latin typeface="Calibri"/>
                <a:cs typeface="Calibri"/>
              </a:rPr>
              <a:t>	M</a:t>
            </a:r>
            <a:r>
              <a:rPr sz="2000" b="1" spc="-35" dirty="0">
                <a:solidFill>
                  <a:srgbClr val="6E808F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6E808F"/>
                </a:solidFill>
                <a:latin typeface="Calibri"/>
                <a:cs typeface="Calibri"/>
              </a:rPr>
              <a:t>L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3875" y="2540423"/>
            <a:ext cx="1359352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Python 3.12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93345" y="2571898"/>
            <a:ext cx="2764690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IN" sz="1600" b="1" spc="-10" dirty="0" err="1">
                <a:solidFill>
                  <a:srgbClr val="1B2937"/>
                </a:solidFill>
                <a:latin typeface="Calibri"/>
                <a:cs typeface="Calibri"/>
              </a:rPr>
              <a:t>NetworkX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6038" y="2988205"/>
            <a:ext cx="1315084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Scikit-Learn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92116" y="3009117"/>
            <a:ext cx="1818640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NumPy &amp; Pandas 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0287" y="3481337"/>
            <a:ext cx="26842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  <a:tab pos="632460" algn="l"/>
              </a:tabLst>
            </a:pPr>
            <a:r>
              <a:rPr lang="en-IN" sz="2000" b="1" dirty="0">
                <a:solidFill>
                  <a:srgbClr val="6E808F"/>
                </a:solidFill>
                <a:latin typeface="Calibri"/>
                <a:cs typeface="Calibri"/>
              </a:rPr>
              <a:t>BLOCKCHAIN &amp; WEB3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2997" y="3960020"/>
            <a:ext cx="1133007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600" b="1" spc="-20" dirty="0">
                <a:solidFill>
                  <a:srgbClr val="1B2937"/>
                </a:solidFill>
                <a:latin typeface="Calibri"/>
                <a:cs typeface="Calibri"/>
              </a:rPr>
              <a:t>Web3.py 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59699" y="3926829"/>
            <a:ext cx="2509352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 </a:t>
            </a:r>
            <a:r>
              <a:rPr lang="en-IN" sz="1600" b="1" spc="-10" dirty="0" err="1">
                <a:solidFill>
                  <a:srgbClr val="1B2937"/>
                </a:solidFill>
                <a:latin typeface="Calibri"/>
                <a:cs typeface="Calibri"/>
              </a:rPr>
              <a:t>Etherscan</a:t>
            </a: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 Developer API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99205" y="4355965"/>
            <a:ext cx="3360907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600" b="1" spc="-20" dirty="0">
                <a:solidFill>
                  <a:srgbClr val="1B2937"/>
                </a:solidFill>
                <a:latin typeface="Calibri"/>
                <a:cs typeface="Calibri"/>
              </a:rPr>
              <a:t>Ethereum / </a:t>
            </a:r>
            <a:r>
              <a:rPr lang="en-IN" sz="1600" b="1" spc="-20" dirty="0" err="1">
                <a:solidFill>
                  <a:srgbClr val="1B2937"/>
                </a:solidFill>
                <a:latin typeface="Calibri"/>
                <a:cs typeface="Calibri"/>
              </a:rPr>
              <a:t>Sepolia</a:t>
            </a:r>
            <a:r>
              <a:rPr lang="en-IN" sz="1600" b="1" spc="-20" dirty="0">
                <a:solidFill>
                  <a:srgbClr val="1B2937"/>
                </a:solidFill>
                <a:latin typeface="Calibri"/>
                <a:cs typeface="Calibri"/>
              </a:rPr>
              <a:t> </a:t>
            </a:r>
            <a:r>
              <a:rPr lang="en-IN" sz="1600" b="1" spc="-20" dirty="0" err="1">
                <a:solidFill>
                  <a:srgbClr val="1B2937"/>
                </a:solidFill>
                <a:latin typeface="Calibri"/>
                <a:cs typeface="Calibri"/>
              </a:rPr>
              <a:t>Testnet</a:t>
            </a:r>
            <a:r>
              <a:rPr lang="en-IN" sz="1600" b="1" spc="-20" dirty="0">
                <a:solidFill>
                  <a:srgbClr val="1B2937"/>
                </a:solidFill>
                <a:latin typeface="Calibri"/>
                <a:cs typeface="Calibri"/>
              </a:rPr>
              <a:t> Nodes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93389" y="4755302"/>
            <a:ext cx="239939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000" b="1" dirty="0">
                <a:solidFill>
                  <a:srgbClr val="6E808F"/>
                </a:solidFill>
                <a:latin typeface="Calibri"/>
                <a:cs typeface="Calibri"/>
              </a:rPr>
              <a:t>FORENSICS &amp; TRUST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5561" y="5181847"/>
            <a:ext cx="2160296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500" b="1" spc="-10" dirty="0">
                <a:solidFill>
                  <a:srgbClr val="1B2937"/>
                </a:solidFill>
                <a:latin typeface="Calibri"/>
                <a:cs typeface="Calibri"/>
              </a:rPr>
              <a:t>SHA-256 Cryptographic Hash Engine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55379" y="5240582"/>
            <a:ext cx="1555750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t>ReportLab PDF Engine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648774" y="5750510"/>
            <a:ext cx="2119033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1B2937"/>
                </a:solidFill>
                <a:latin typeface="Calibri"/>
                <a:cs typeface="Calibri"/>
              </a:rPr>
              <a:t>BSA Sec 63 / Sec 65B Compliance Locker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31274" y="5701270"/>
            <a:ext cx="210808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937"/>
                </a:solidFill>
                <a:latin typeface="Calibri"/>
                <a:cs typeface="Calibri"/>
              </a:rPr>
              <a:t>FATF Rec 15/16 VASP Mapping Registry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6570" y="6416573"/>
            <a:ext cx="3352394" cy="3221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000" b="1" dirty="0">
                <a:solidFill>
                  <a:srgbClr val="6E808F"/>
                </a:solidFill>
                <a:latin typeface="Calibri"/>
                <a:cs typeface="Calibri"/>
              </a:rPr>
              <a:t>APPLICATION &amp; FRONTEND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2537" y="6761556"/>
            <a:ext cx="2279649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React 18 + TypeScript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22070" y="6768965"/>
            <a:ext cx="1420923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600" b="1" spc="-10" dirty="0">
                <a:solidFill>
                  <a:srgbClr val="1B2937"/>
                </a:solidFill>
                <a:latin typeface="Calibri"/>
                <a:cs typeface="Calibri"/>
              </a:rPr>
              <a:t>Cytoscape.js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43402" y="7893366"/>
            <a:ext cx="22796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Calibri"/>
                <a:cs typeface="Calibri"/>
              </a:rPr>
              <a:t>FastAPI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69408" y="6954462"/>
            <a:ext cx="20110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14" dirty="0">
                <a:solidFill>
                  <a:srgbClr val="12314E"/>
                </a:solidFill>
                <a:latin typeface="Calibri"/>
                <a:cs typeface="Calibri"/>
              </a:rPr>
              <a:t>WORKING</a:t>
            </a:r>
            <a:r>
              <a:rPr sz="1400" b="1" spc="315" dirty="0">
                <a:solidFill>
                  <a:srgbClr val="12314E"/>
                </a:solidFill>
                <a:latin typeface="Calibri"/>
                <a:cs typeface="Calibri"/>
              </a:rPr>
              <a:t> </a:t>
            </a:r>
            <a:r>
              <a:rPr sz="1400" b="1" spc="110" dirty="0">
                <a:solidFill>
                  <a:srgbClr val="12314E"/>
                </a:solidFill>
                <a:latin typeface="Calibri"/>
                <a:cs typeface="Calibri"/>
              </a:rPr>
              <a:t>PROTOTYPE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959628-5B55-5C55-3CFF-0FDC3E2CECE9}"/>
              </a:ext>
            </a:extLst>
          </p:cNvPr>
          <p:cNvSpPr txBox="1"/>
          <p:nvPr/>
        </p:nvSpPr>
        <p:spPr>
          <a:xfrm>
            <a:off x="777448" y="7545342"/>
            <a:ext cx="31187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 dirty="0">
                <a:solidFill>
                  <a:srgbClr val="6E808F"/>
                </a:solidFill>
                <a:latin typeface="Calibri"/>
                <a:cs typeface="Calibri"/>
              </a:rPr>
              <a:t>BACKEND &amp; INFRASTRUCTURE</a:t>
            </a:r>
            <a:endParaRPr lang="pt-BR" sz="1600" dirty="0">
              <a:latin typeface="Calibri"/>
              <a:cs typeface="Calibri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4AC77D8-4160-9BBC-ECBE-20EF851C59A6}"/>
              </a:ext>
            </a:extLst>
          </p:cNvPr>
          <p:cNvSpPr txBox="1"/>
          <p:nvPr/>
        </p:nvSpPr>
        <p:spPr>
          <a:xfrm>
            <a:off x="2465704" y="7822686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+mn-lt"/>
              </a:rPr>
              <a:t>SQLAlchemy</a:t>
            </a:r>
            <a:r>
              <a:rPr lang="en-IN" sz="1600" b="1" dirty="0">
                <a:latin typeface="+mn-lt"/>
              </a:rPr>
              <a:t> ORM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3F4A962-958F-46D2-6B69-E3C0DA46FB6D}"/>
              </a:ext>
            </a:extLst>
          </p:cNvPr>
          <p:cNvSpPr txBox="1"/>
          <p:nvPr/>
        </p:nvSpPr>
        <p:spPr>
          <a:xfrm>
            <a:off x="856425" y="8306389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Supabase / PostgreSQL / SQLite Fallback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862FE9D-2A03-8F2A-08F0-EE376631587B}"/>
              </a:ext>
            </a:extLst>
          </p:cNvPr>
          <p:cNvSpPr txBox="1"/>
          <p:nvPr/>
        </p:nvSpPr>
        <p:spPr>
          <a:xfrm>
            <a:off x="823875" y="875161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+mn-lt"/>
              </a:rPr>
              <a:t>Docker &amp; Render Cloud Deployment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832CDF-A671-4D71-CFF6-AA92E1D9BF76}"/>
              </a:ext>
            </a:extLst>
          </p:cNvPr>
          <p:cNvSpPr txBox="1"/>
          <p:nvPr/>
        </p:nvSpPr>
        <p:spPr>
          <a:xfrm>
            <a:off x="1007456" y="7114183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Tailwind CSS + Lucide Icons + Vite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776D7D5E-8930-7F17-C0B3-44952A2F6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986" y="1535440"/>
            <a:ext cx="12938198" cy="275105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DE41490-82F9-1019-96B6-45EB4D746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997" y="4477902"/>
            <a:ext cx="12893040" cy="24300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51469-D5CF-5CAD-AA78-C0F27525F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905" y="7257735"/>
            <a:ext cx="12766132" cy="2579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77342"/>
            <a:ext cx="18288000" cy="610235"/>
          </a:xfrm>
          <a:custGeom>
            <a:avLst/>
            <a:gdLst/>
            <a:ahLst/>
            <a:cxnLst/>
            <a:rect l="l" t="t" r="r" b="b"/>
            <a:pathLst>
              <a:path w="18288000" h="610234">
                <a:moveTo>
                  <a:pt x="18287998" y="609657"/>
                </a:moveTo>
                <a:lnTo>
                  <a:pt x="0" y="60965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09657"/>
                </a:lnTo>
                <a:close/>
              </a:path>
            </a:pathLst>
          </a:custGeom>
          <a:solidFill>
            <a:srgbClr val="247D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04989" y="1396033"/>
            <a:ext cx="2931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DBE4A"/>
                </a:solidFill>
                <a:latin typeface="Times New Roman"/>
                <a:cs typeface="Times New Roman"/>
              </a:rPr>
              <a:t>PHASED</a:t>
            </a:r>
            <a:r>
              <a:rPr sz="2400" b="1" spc="-75" dirty="0">
                <a:solidFill>
                  <a:srgbClr val="6DBE4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DBE4A"/>
                </a:solidFill>
                <a:latin typeface="Times New Roman"/>
                <a:cs typeface="Times New Roman"/>
              </a:rPr>
              <a:t>ROADMAP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86850" y="1834548"/>
            <a:ext cx="1048385" cy="6843395"/>
            <a:chOff x="14086850" y="1834548"/>
            <a:chExt cx="1048385" cy="6843395"/>
          </a:xfrm>
        </p:grpSpPr>
        <p:sp>
          <p:nvSpPr>
            <p:cNvPr id="5" name="object 5"/>
            <p:cNvSpPr/>
            <p:nvPr/>
          </p:nvSpPr>
          <p:spPr>
            <a:xfrm>
              <a:off x="14613603" y="2250762"/>
              <a:ext cx="95250" cy="6403340"/>
            </a:xfrm>
            <a:custGeom>
              <a:avLst/>
              <a:gdLst/>
              <a:ahLst/>
              <a:cxnLst/>
              <a:rect l="l" t="t" r="r" b="b"/>
              <a:pathLst>
                <a:path w="95250" h="6403340">
                  <a:moveTo>
                    <a:pt x="0" y="0"/>
                  </a:moveTo>
                  <a:lnTo>
                    <a:pt x="94664" y="6403176"/>
                  </a:lnTo>
                </a:path>
              </a:pathLst>
            </a:custGeom>
            <a:ln w="47624">
              <a:solidFill>
                <a:srgbClr val="247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63368" y="1911067"/>
              <a:ext cx="900430" cy="900430"/>
            </a:xfrm>
            <a:custGeom>
              <a:avLst/>
              <a:gdLst/>
              <a:ahLst/>
              <a:cxnLst/>
              <a:rect l="l" t="t" r="r" b="b"/>
              <a:pathLst>
                <a:path w="900430" h="900430">
                  <a:moveTo>
                    <a:pt x="449960" y="899826"/>
                  </a:moveTo>
                  <a:lnTo>
                    <a:pt x="400932" y="897187"/>
                  </a:lnTo>
                  <a:lnTo>
                    <a:pt x="353433" y="889453"/>
                  </a:lnTo>
                  <a:lnTo>
                    <a:pt x="307738" y="876897"/>
                  </a:lnTo>
                  <a:lnTo>
                    <a:pt x="264121" y="859794"/>
                  </a:lnTo>
                  <a:lnTo>
                    <a:pt x="222856" y="838418"/>
                  </a:lnTo>
                  <a:lnTo>
                    <a:pt x="184219" y="813044"/>
                  </a:lnTo>
                  <a:lnTo>
                    <a:pt x="148484" y="783944"/>
                  </a:lnTo>
                  <a:lnTo>
                    <a:pt x="115924" y="751394"/>
                  </a:lnTo>
                  <a:lnTo>
                    <a:pt x="86816" y="715668"/>
                  </a:lnTo>
                  <a:lnTo>
                    <a:pt x="61432" y="677040"/>
                  </a:lnTo>
                  <a:lnTo>
                    <a:pt x="40048" y="635784"/>
                  </a:lnTo>
                  <a:lnTo>
                    <a:pt x="22939" y="592173"/>
                  </a:lnTo>
                  <a:lnTo>
                    <a:pt x="10378" y="546483"/>
                  </a:lnTo>
                  <a:lnTo>
                    <a:pt x="2640" y="498988"/>
                  </a:lnTo>
                  <a:lnTo>
                    <a:pt x="0" y="449960"/>
                  </a:lnTo>
                  <a:lnTo>
                    <a:pt x="2640" y="400932"/>
                  </a:lnTo>
                  <a:lnTo>
                    <a:pt x="10378" y="353433"/>
                  </a:lnTo>
                  <a:lnTo>
                    <a:pt x="22939" y="307738"/>
                  </a:lnTo>
                  <a:lnTo>
                    <a:pt x="40048" y="264121"/>
                  </a:lnTo>
                  <a:lnTo>
                    <a:pt x="61432" y="222856"/>
                  </a:lnTo>
                  <a:lnTo>
                    <a:pt x="86816" y="184219"/>
                  </a:lnTo>
                  <a:lnTo>
                    <a:pt x="115924" y="148484"/>
                  </a:lnTo>
                  <a:lnTo>
                    <a:pt x="148484" y="115924"/>
                  </a:lnTo>
                  <a:lnTo>
                    <a:pt x="184219" y="86816"/>
                  </a:lnTo>
                  <a:lnTo>
                    <a:pt x="222856" y="61432"/>
                  </a:lnTo>
                  <a:lnTo>
                    <a:pt x="264121" y="40048"/>
                  </a:lnTo>
                  <a:lnTo>
                    <a:pt x="307738" y="22939"/>
                  </a:lnTo>
                  <a:lnTo>
                    <a:pt x="353433" y="10378"/>
                  </a:lnTo>
                  <a:lnTo>
                    <a:pt x="400932" y="2640"/>
                  </a:lnTo>
                  <a:lnTo>
                    <a:pt x="449960" y="0"/>
                  </a:lnTo>
                  <a:lnTo>
                    <a:pt x="498988" y="2640"/>
                  </a:lnTo>
                  <a:lnTo>
                    <a:pt x="546483" y="10378"/>
                  </a:lnTo>
                  <a:lnTo>
                    <a:pt x="592173" y="22939"/>
                  </a:lnTo>
                  <a:lnTo>
                    <a:pt x="635784" y="40048"/>
                  </a:lnTo>
                  <a:lnTo>
                    <a:pt x="677040" y="61432"/>
                  </a:lnTo>
                  <a:lnTo>
                    <a:pt x="715668" y="86816"/>
                  </a:lnTo>
                  <a:lnTo>
                    <a:pt x="751395" y="115924"/>
                  </a:lnTo>
                  <a:lnTo>
                    <a:pt x="783944" y="148484"/>
                  </a:lnTo>
                  <a:lnTo>
                    <a:pt x="813044" y="184219"/>
                  </a:lnTo>
                  <a:lnTo>
                    <a:pt x="838418" y="222856"/>
                  </a:lnTo>
                  <a:lnTo>
                    <a:pt x="859794" y="264121"/>
                  </a:lnTo>
                  <a:lnTo>
                    <a:pt x="876897" y="307738"/>
                  </a:lnTo>
                  <a:lnTo>
                    <a:pt x="889453" y="353433"/>
                  </a:lnTo>
                  <a:lnTo>
                    <a:pt x="897187" y="400932"/>
                  </a:lnTo>
                  <a:lnTo>
                    <a:pt x="899826" y="449960"/>
                  </a:lnTo>
                  <a:lnTo>
                    <a:pt x="897187" y="498988"/>
                  </a:lnTo>
                  <a:lnTo>
                    <a:pt x="889453" y="546483"/>
                  </a:lnTo>
                  <a:lnTo>
                    <a:pt x="876897" y="592173"/>
                  </a:lnTo>
                  <a:lnTo>
                    <a:pt x="859794" y="635784"/>
                  </a:lnTo>
                  <a:lnTo>
                    <a:pt x="838418" y="677040"/>
                  </a:lnTo>
                  <a:lnTo>
                    <a:pt x="813044" y="715668"/>
                  </a:lnTo>
                  <a:lnTo>
                    <a:pt x="783944" y="751394"/>
                  </a:lnTo>
                  <a:lnTo>
                    <a:pt x="751395" y="783944"/>
                  </a:lnTo>
                  <a:lnTo>
                    <a:pt x="715668" y="813044"/>
                  </a:lnTo>
                  <a:lnTo>
                    <a:pt x="677040" y="838418"/>
                  </a:lnTo>
                  <a:lnTo>
                    <a:pt x="635784" y="859794"/>
                  </a:lnTo>
                  <a:lnTo>
                    <a:pt x="592173" y="876897"/>
                  </a:lnTo>
                  <a:lnTo>
                    <a:pt x="546483" y="889453"/>
                  </a:lnTo>
                  <a:lnTo>
                    <a:pt x="498988" y="897187"/>
                  </a:lnTo>
                  <a:lnTo>
                    <a:pt x="449960" y="899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163367" y="1911066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895310" y="510268"/>
                  </a:moveTo>
                  <a:lnTo>
                    <a:pt x="876903" y="592163"/>
                  </a:lnTo>
                  <a:lnTo>
                    <a:pt x="859800" y="635777"/>
                  </a:lnTo>
                  <a:lnTo>
                    <a:pt x="838423" y="677037"/>
                  </a:lnTo>
                  <a:lnTo>
                    <a:pt x="813046" y="715668"/>
                  </a:lnTo>
                  <a:lnTo>
                    <a:pt x="783945" y="751397"/>
                  </a:lnTo>
                  <a:lnTo>
                    <a:pt x="751392" y="783949"/>
                  </a:lnTo>
                  <a:lnTo>
                    <a:pt x="715662" y="813050"/>
                  </a:lnTo>
                  <a:lnTo>
                    <a:pt x="677030" y="838425"/>
                  </a:lnTo>
                  <a:lnTo>
                    <a:pt x="635770" y="859801"/>
                  </a:lnTo>
                  <a:lnTo>
                    <a:pt x="592156" y="876903"/>
                  </a:lnTo>
                  <a:lnTo>
                    <a:pt x="546463" y="889458"/>
                  </a:lnTo>
                  <a:lnTo>
                    <a:pt x="510265" y="895298"/>
                  </a:lnTo>
                </a:path>
                <a:path w="895350" h="895350">
                  <a:moveTo>
                    <a:pt x="389654" y="895316"/>
                  </a:moveTo>
                  <a:lnTo>
                    <a:pt x="307707" y="876886"/>
                  </a:lnTo>
                  <a:lnTo>
                    <a:pt x="264091" y="859779"/>
                  </a:lnTo>
                  <a:lnTo>
                    <a:pt x="222827" y="838400"/>
                  </a:lnTo>
                  <a:lnTo>
                    <a:pt x="184192" y="813022"/>
                  </a:lnTo>
                  <a:lnTo>
                    <a:pt x="148459" y="783920"/>
                  </a:lnTo>
                  <a:lnTo>
                    <a:pt x="115902" y="751367"/>
                  </a:lnTo>
                  <a:lnTo>
                    <a:pt x="86797" y="715640"/>
                  </a:lnTo>
                  <a:lnTo>
                    <a:pt x="61417" y="677010"/>
                  </a:lnTo>
                  <a:lnTo>
                    <a:pt x="40037" y="635753"/>
                  </a:lnTo>
                  <a:lnTo>
                    <a:pt x="22932" y="592144"/>
                  </a:lnTo>
                  <a:lnTo>
                    <a:pt x="10374" y="546455"/>
                  </a:lnTo>
                  <a:lnTo>
                    <a:pt x="2640" y="498961"/>
                  </a:lnTo>
                  <a:lnTo>
                    <a:pt x="0" y="449937"/>
                  </a:lnTo>
                  <a:lnTo>
                    <a:pt x="2645" y="400912"/>
                  </a:lnTo>
                  <a:lnTo>
                    <a:pt x="10384" y="353416"/>
                  </a:lnTo>
                  <a:lnTo>
                    <a:pt x="22946" y="307725"/>
                  </a:lnTo>
                  <a:lnTo>
                    <a:pt x="40055" y="264111"/>
                  </a:lnTo>
                  <a:lnTo>
                    <a:pt x="61438" y="222851"/>
                  </a:lnTo>
                  <a:lnTo>
                    <a:pt x="86820" y="184217"/>
                  </a:lnTo>
                  <a:lnTo>
                    <a:pt x="115926" y="148484"/>
                  </a:lnTo>
                  <a:lnTo>
                    <a:pt x="148483" y="115927"/>
                  </a:lnTo>
                  <a:lnTo>
                    <a:pt x="184215" y="86820"/>
                  </a:lnTo>
                  <a:lnTo>
                    <a:pt x="222849" y="61438"/>
                  </a:lnTo>
                  <a:lnTo>
                    <a:pt x="264110" y="40055"/>
                  </a:lnTo>
                  <a:lnTo>
                    <a:pt x="307723" y="22944"/>
                  </a:lnTo>
                  <a:lnTo>
                    <a:pt x="353415" y="10382"/>
                  </a:lnTo>
                  <a:lnTo>
                    <a:pt x="400911" y="2642"/>
                  </a:lnTo>
                  <a:lnTo>
                    <a:pt x="449937" y="0"/>
                  </a:lnTo>
                  <a:lnTo>
                    <a:pt x="498962" y="2637"/>
                  </a:lnTo>
                  <a:lnTo>
                    <a:pt x="546456" y="10371"/>
                  </a:lnTo>
                  <a:lnTo>
                    <a:pt x="592145" y="22929"/>
                  </a:lnTo>
                  <a:lnTo>
                    <a:pt x="635756" y="40035"/>
                  </a:lnTo>
                  <a:lnTo>
                    <a:pt x="677013" y="61415"/>
                  </a:lnTo>
                  <a:lnTo>
                    <a:pt x="715643" y="86795"/>
                  </a:lnTo>
                  <a:lnTo>
                    <a:pt x="751372" y="115901"/>
                  </a:lnTo>
                  <a:lnTo>
                    <a:pt x="783924" y="148458"/>
                  </a:lnTo>
                  <a:lnTo>
                    <a:pt x="813027" y="184192"/>
                  </a:lnTo>
                  <a:lnTo>
                    <a:pt x="838405" y="222829"/>
                  </a:lnTo>
                  <a:lnTo>
                    <a:pt x="859784" y="264093"/>
                  </a:lnTo>
                  <a:lnTo>
                    <a:pt x="876890" y="307711"/>
                  </a:lnTo>
                  <a:lnTo>
                    <a:pt x="889450" y="353407"/>
                  </a:lnTo>
                  <a:lnTo>
                    <a:pt x="895316" y="389653"/>
                  </a:lnTo>
                </a:path>
              </a:pathLst>
            </a:custGeom>
            <a:ln w="152519">
              <a:solidFill>
                <a:srgbClr val="247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4086850" y="3838999"/>
            <a:ext cx="1048385" cy="1048385"/>
            <a:chOff x="14086850" y="3838999"/>
            <a:chExt cx="1048385" cy="1048385"/>
          </a:xfrm>
        </p:grpSpPr>
        <p:sp>
          <p:nvSpPr>
            <p:cNvPr id="10" name="object 10"/>
            <p:cNvSpPr/>
            <p:nvPr/>
          </p:nvSpPr>
          <p:spPr>
            <a:xfrm>
              <a:off x="14163368" y="3915518"/>
              <a:ext cx="900430" cy="900430"/>
            </a:xfrm>
            <a:custGeom>
              <a:avLst/>
              <a:gdLst/>
              <a:ahLst/>
              <a:cxnLst/>
              <a:rect l="l" t="t" r="r" b="b"/>
              <a:pathLst>
                <a:path w="900430" h="900429">
                  <a:moveTo>
                    <a:pt x="449960" y="899826"/>
                  </a:moveTo>
                  <a:lnTo>
                    <a:pt x="400932" y="897187"/>
                  </a:lnTo>
                  <a:lnTo>
                    <a:pt x="353433" y="889453"/>
                  </a:lnTo>
                  <a:lnTo>
                    <a:pt x="307738" y="876897"/>
                  </a:lnTo>
                  <a:lnTo>
                    <a:pt x="264121" y="859794"/>
                  </a:lnTo>
                  <a:lnTo>
                    <a:pt x="222856" y="838418"/>
                  </a:lnTo>
                  <a:lnTo>
                    <a:pt x="184219" y="813044"/>
                  </a:lnTo>
                  <a:lnTo>
                    <a:pt x="148484" y="783944"/>
                  </a:lnTo>
                  <a:lnTo>
                    <a:pt x="115924" y="751394"/>
                  </a:lnTo>
                  <a:lnTo>
                    <a:pt x="86816" y="715668"/>
                  </a:lnTo>
                  <a:lnTo>
                    <a:pt x="61432" y="677040"/>
                  </a:lnTo>
                  <a:lnTo>
                    <a:pt x="40048" y="635784"/>
                  </a:lnTo>
                  <a:lnTo>
                    <a:pt x="22939" y="592173"/>
                  </a:lnTo>
                  <a:lnTo>
                    <a:pt x="10378" y="546483"/>
                  </a:lnTo>
                  <a:lnTo>
                    <a:pt x="2640" y="498988"/>
                  </a:lnTo>
                  <a:lnTo>
                    <a:pt x="0" y="449960"/>
                  </a:lnTo>
                  <a:lnTo>
                    <a:pt x="2640" y="400932"/>
                  </a:lnTo>
                  <a:lnTo>
                    <a:pt x="10378" y="353433"/>
                  </a:lnTo>
                  <a:lnTo>
                    <a:pt x="22939" y="307738"/>
                  </a:lnTo>
                  <a:lnTo>
                    <a:pt x="40048" y="264121"/>
                  </a:lnTo>
                  <a:lnTo>
                    <a:pt x="61432" y="222856"/>
                  </a:lnTo>
                  <a:lnTo>
                    <a:pt x="86816" y="184219"/>
                  </a:lnTo>
                  <a:lnTo>
                    <a:pt x="115924" y="148484"/>
                  </a:lnTo>
                  <a:lnTo>
                    <a:pt x="148484" y="115924"/>
                  </a:lnTo>
                  <a:lnTo>
                    <a:pt x="184219" y="86816"/>
                  </a:lnTo>
                  <a:lnTo>
                    <a:pt x="222856" y="61432"/>
                  </a:lnTo>
                  <a:lnTo>
                    <a:pt x="264121" y="40048"/>
                  </a:lnTo>
                  <a:lnTo>
                    <a:pt x="307738" y="22939"/>
                  </a:lnTo>
                  <a:lnTo>
                    <a:pt x="353433" y="10378"/>
                  </a:lnTo>
                  <a:lnTo>
                    <a:pt x="400932" y="2640"/>
                  </a:lnTo>
                  <a:lnTo>
                    <a:pt x="449960" y="0"/>
                  </a:lnTo>
                  <a:lnTo>
                    <a:pt x="498988" y="2640"/>
                  </a:lnTo>
                  <a:lnTo>
                    <a:pt x="546483" y="10378"/>
                  </a:lnTo>
                  <a:lnTo>
                    <a:pt x="592173" y="22939"/>
                  </a:lnTo>
                  <a:lnTo>
                    <a:pt x="635784" y="40048"/>
                  </a:lnTo>
                  <a:lnTo>
                    <a:pt x="677040" y="61432"/>
                  </a:lnTo>
                  <a:lnTo>
                    <a:pt x="715668" y="86816"/>
                  </a:lnTo>
                  <a:lnTo>
                    <a:pt x="751395" y="115924"/>
                  </a:lnTo>
                  <a:lnTo>
                    <a:pt x="783944" y="148484"/>
                  </a:lnTo>
                  <a:lnTo>
                    <a:pt x="813044" y="184219"/>
                  </a:lnTo>
                  <a:lnTo>
                    <a:pt x="838418" y="222856"/>
                  </a:lnTo>
                  <a:lnTo>
                    <a:pt x="859794" y="264121"/>
                  </a:lnTo>
                  <a:lnTo>
                    <a:pt x="876897" y="307738"/>
                  </a:lnTo>
                  <a:lnTo>
                    <a:pt x="889453" y="353433"/>
                  </a:lnTo>
                  <a:lnTo>
                    <a:pt x="897187" y="400932"/>
                  </a:lnTo>
                  <a:lnTo>
                    <a:pt x="899826" y="449960"/>
                  </a:lnTo>
                  <a:lnTo>
                    <a:pt x="897187" y="498988"/>
                  </a:lnTo>
                  <a:lnTo>
                    <a:pt x="889453" y="546483"/>
                  </a:lnTo>
                  <a:lnTo>
                    <a:pt x="876897" y="592173"/>
                  </a:lnTo>
                  <a:lnTo>
                    <a:pt x="859794" y="635784"/>
                  </a:lnTo>
                  <a:lnTo>
                    <a:pt x="838418" y="677040"/>
                  </a:lnTo>
                  <a:lnTo>
                    <a:pt x="813044" y="715668"/>
                  </a:lnTo>
                  <a:lnTo>
                    <a:pt x="783944" y="751394"/>
                  </a:lnTo>
                  <a:lnTo>
                    <a:pt x="751395" y="783944"/>
                  </a:lnTo>
                  <a:lnTo>
                    <a:pt x="715668" y="813044"/>
                  </a:lnTo>
                  <a:lnTo>
                    <a:pt x="677040" y="838418"/>
                  </a:lnTo>
                  <a:lnTo>
                    <a:pt x="635784" y="859794"/>
                  </a:lnTo>
                  <a:lnTo>
                    <a:pt x="592173" y="876897"/>
                  </a:lnTo>
                  <a:lnTo>
                    <a:pt x="546483" y="889453"/>
                  </a:lnTo>
                  <a:lnTo>
                    <a:pt x="498988" y="897187"/>
                  </a:lnTo>
                  <a:lnTo>
                    <a:pt x="449960" y="899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63367" y="3915516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895310" y="510268"/>
                  </a:moveTo>
                  <a:lnTo>
                    <a:pt x="876903" y="592163"/>
                  </a:lnTo>
                  <a:lnTo>
                    <a:pt x="859800" y="635777"/>
                  </a:lnTo>
                  <a:lnTo>
                    <a:pt x="838423" y="677037"/>
                  </a:lnTo>
                  <a:lnTo>
                    <a:pt x="813046" y="715668"/>
                  </a:lnTo>
                  <a:lnTo>
                    <a:pt x="783945" y="751397"/>
                  </a:lnTo>
                  <a:lnTo>
                    <a:pt x="751392" y="783949"/>
                  </a:lnTo>
                  <a:lnTo>
                    <a:pt x="715662" y="813050"/>
                  </a:lnTo>
                  <a:lnTo>
                    <a:pt x="677031" y="838425"/>
                  </a:lnTo>
                  <a:lnTo>
                    <a:pt x="635770" y="859801"/>
                  </a:lnTo>
                  <a:lnTo>
                    <a:pt x="592156" y="876903"/>
                  </a:lnTo>
                  <a:lnTo>
                    <a:pt x="546463" y="889458"/>
                  </a:lnTo>
                  <a:lnTo>
                    <a:pt x="510265" y="895298"/>
                  </a:lnTo>
                </a:path>
                <a:path w="895350" h="895350">
                  <a:moveTo>
                    <a:pt x="389654" y="895316"/>
                  </a:moveTo>
                  <a:lnTo>
                    <a:pt x="307707" y="876886"/>
                  </a:lnTo>
                  <a:lnTo>
                    <a:pt x="264091" y="859779"/>
                  </a:lnTo>
                  <a:lnTo>
                    <a:pt x="222827" y="838400"/>
                  </a:lnTo>
                  <a:lnTo>
                    <a:pt x="184192" y="813022"/>
                  </a:lnTo>
                  <a:lnTo>
                    <a:pt x="148459" y="783919"/>
                  </a:lnTo>
                  <a:lnTo>
                    <a:pt x="115902" y="751367"/>
                  </a:lnTo>
                  <a:lnTo>
                    <a:pt x="86797" y="715639"/>
                  </a:lnTo>
                  <a:lnTo>
                    <a:pt x="61417" y="677010"/>
                  </a:lnTo>
                  <a:lnTo>
                    <a:pt x="40037" y="635753"/>
                  </a:lnTo>
                  <a:lnTo>
                    <a:pt x="22932" y="592144"/>
                  </a:lnTo>
                  <a:lnTo>
                    <a:pt x="10374" y="546455"/>
                  </a:lnTo>
                  <a:lnTo>
                    <a:pt x="2640" y="498961"/>
                  </a:lnTo>
                  <a:lnTo>
                    <a:pt x="0" y="449937"/>
                  </a:lnTo>
                  <a:lnTo>
                    <a:pt x="2645" y="400912"/>
                  </a:lnTo>
                  <a:lnTo>
                    <a:pt x="10384" y="353416"/>
                  </a:lnTo>
                  <a:lnTo>
                    <a:pt x="22946" y="307725"/>
                  </a:lnTo>
                  <a:lnTo>
                    <a:pt x="40055" y="264111"/>
                  </a:lnTo>
                  <a:lnTo>
                    <a:pt x="61438" y="222851"/>
                  </a:lnTo>
                  <a:lnTo>
                    <a:pt x="86820" y="184217"/>
                  </a:lnTo>
                  <a:lnTo>
                    <a:pt x="115926" y="148484"/>
                  </a:lnTo>
                  <a:lnTo>
                    <a:pt x="148483" y="115927"/>
                  </a:lnTo>
                  <a:lnTo>
                    <a:pt x="184215" y="86820"/>
                  </a:lnTo>
                  <a:lnTo>
                    <a:pt x="222849" y="61438"/>
                  </a:lnTo>
                  <a:lnTo>
                    <a:pt x="264110" y="40055"/>
                  </a:lnTo>
                  <a:lnTo>
                    <a:pt x="307723" y="22944"/>
                  </a:lnTo>
                  <a:lnTo>
                    <a:pt x="353415" y="10382"/>
                  </a:lnTo>
                  <a:lnTo>
                    <a:pt x="400911" y="2642"/>
                  </a:lnTo>
                  <a:lnTo>
                    <a:pt x="449937" y="0"/>
                  </a:lnTo>
                  <a:lnTo>
                    <a:pt x="498962" y="2637"/>
                  </a:lnTo>
                  <a:lnTo>
                    <a:pt x="546456" y="10371"/>
                  </a:lnTo>
                  <a:lnTo>
                    <a:pt x="592145" y="22929"/>
                  </a:lnTo>
                  <a:lnTo>
                    <a:pt x="635756" y="40035"/>
                  </a:lnTo>
                  <a:lnTo>
                    <a:pt x="677013" y="61415"/>
                  </a:lnTo>
                  <a:lnTo>
                    <a:pt x="715643" y="86795"/>
                  </a:lnTo>
                  <a:lnTo>
                    <a:pt x="751372" y="115901"/>
                  </a:lnTo>
                  <a:lnTo>
                    <a:pt x="783924" y="148458"/>
                  </a:lnTo>
                  <a:lnTo>
                    <a:pt x="813027" y="184192"/>
                  </a:lnTo>
                  <a:lnTo>
                    <a:pt x="838405" y="222829"/>
                  </a:lnTo>
                  <a:lnTo>
                    <a:pt x="859784" y="264093"/>
                  </a:lnTo>
                  <a:lnTo>
                    <a:pt x="876890" y="307711"/>
                  </a:lnTo>
                  <a:lnTo>
                    <a:pt x="889450" y="353407"/>
                  </a:lnTo>
                  <a:lnTo>
                    <a:pt x="895316" y="389653"/>
                  </a:lnTo>
                </a:path>
              </a:pathLst>
            </a:custGeom>
            <a:ln w="152519">
              <a:solidFill>
                <a:srgbClr val="247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138592" y="5723073"/>
            <a:ext cx="1053465" cy="2931795"/>
            <a:chOff x="14138592" y="5723073"/>
            <a:chExt cx="1053465" cy="2931795"/>
          </a:xfrm>
        </p:grpSpPr>
        <p:sp>
          <p:nvSpPr>
            <p:cNvPr id="14" name="object 14"/>
            <p:cNvSpPr/>
            <p:nvPr/>
          </p:nvSpPr>
          <p:spPr>
            <a:xfrm>
              <a:off x="14220193" y="5799334"/>
              <a:ext cx="900430" cy="900430"/>
            </a:xfrm>
            <a:custGeom>
              <a:avLst/>
              <a:gdLst/>
              <a:ahLst/>
              <a:cxnLst/>
              <a:rect l="l" t="t" r="r" b="b"/>
              <a:pathLst>
                <a:path w="900430" h="900429">
                  <a:moveTo>
                    <a:pt x="449960" y="899826"/>
                  </a:moveTo>
                  <a:lnTo>
                    <a:pt x="400932" y="897187"/>
                  </a:lnTo>
                  <a:lnTo>
                    <a:pt x="353433" y="889453"/>
                  </a:lnTo>
                  <a:lnTo>
                    <a:pt x="307738" y="876897"/>
                  </a:lnTo>
                  <a:lnTo>
                    <a:pt x="264121" y="859794"/>
                  </a:lnTo>
                  <a:lnTo>
                    <a:pt x="222856" y="838418"/>
                  </a:lnTo>
                  <a:lnTo>
                    <a:pt x="184219" y="813044"/>
                  </a:lnTo>
                  <a:lnTo>
                    <a:pt x="148484" y="783944"/>
                  </a:lnTo>
                  <a:lnTo>
                    <a:pt x="115924" y="751395"/>
                  </a:lnTo>
                  <a:lnTo>
                    <a:pt x="86816" y="715668"/>
                  </a:lnTo>
                  <a:lnTo>
                    <a:pt x="61432" y="677040"/>
                  </a:lnTo>
                  <a:lnTo>
                    <a:pt x="40048" y="635784"/>
                  </a:lnTo>
                  <a:lnTo>
                    <a:pt x="22939" y="592173"/>
                  </a:lnTo>
                  <a:lnTo>
                    <a:pt x="10378" y="546483"/>
                  </a:lnTo>
                  <a:lnTo>
                    <a:pt x="2640" y="498988"/>
                  </a:lnTo>
                  <a:lnTo>
                    <a:pt x="0" y="449960"/>
                  </a:lnTo>
                  <a:lnTo>
                    <a:pt x="2640" y="400932"/>
                  </a:lnTo>
                  <a:lnTo>
                    <a:pt x="10378" y="353433"/>
                  </a:lnTo>
                  <a:lnTo>
                    <a:pt x="22939" y="307738"/>
                  </a:lnTo>
                  <a:lnTo>
                    <a:pt x="40048" y="264121"/>
                  </a:lnTo>
                  <a:lnTo>
                    <a:pt x="61432" y="222856"/>
                  </a:lnTo>
                  <a:lnTo>
                    <a:pt x="86816" y="184219"/>
                  </a:lnTo>
                  <a:lnTo>
                    <a:pt x="115924" y="148484"/>
                  </a:lnTo>
                  <a:lnTo>
                    <a:pt x="148484" y="115924"/>
                  </a:lnTo>
                  <a:lnTo>
                    <a:pt x="184219" y="86816"/>
                  </a:lnTo>
                  <a:lnTo>
                    <a:pt x="222856" y="61432"/>
                  </a:lnTo>
                  <a:lnTo>
                    <a:pt x="264121" y="40048"/>
                  </a:lnTo>
                  <a:lnTo>
                    <a:pt x="307738" y="22939"/>
                  </a:lnTo>
                  <a:lnTo>
                    <a:pt x="353433" y="10378"/>
                  </a:lnTo>
                  <a:lnTo>
                    <a:pt x="400932" y="2640"/>
                  </a:lnTo>
                  <a:lnTo>
                    <a:pt x="449960" y="0"/>
                  </a:lnTo>
                  <a:lnTo>
                    <a:pt x="498988" y="2640"/>
                  </a:lnTo>
                  <a:lnTo>
                    <a:pt x="546483" y="10378"/>
                  </a:lnTo>
                  <a:lnTo>
                    <a:pt x="592173" y="22939"/>
                  </a:lnTo>
                  <a:lnTo>
                    <a:pt x="635783" y="40048"/>
                  </a:lnTo>
                  <a:lnTo>
                    <a:pt x="677040" y="61432"/>
                  </a:lnTo>
                  <a:lnTo>
                    <a:pt x="715668" y="86816"/>
                  </a:lnTo>
                  <a:lnTo>
                    <a:pt x="751394" y="115924"/>
                  </a:lnTo>
                  <a:lnTo>
                    <a:pt x="783944" y="148484"/>
                  </a:lnTo>
                  <a:lnTo>
                    <a:pt x="813043" y="184219"/>
                  </a:lnTo>
                  <a:lnTo>
                    <a:pt x="838418" y="222856"/>
                  </a:lnTo>
                  <a:lnTo>
                    <a:pt x="859794" y="264121"/>
                  </a:lnTo>
                  <a:lnTo>
                    <a:pt x="876897" y="307738"/>
                  </a:lnTo>
                  <a:lnTo>
                    <a:pt x="889452" y="353433"/>
                  </a:lnTo>
                  <a:lnTo>
                    <a:pt x="897187" y="400932"/>
                  </a:lnTo>
                  <a:lnTo>
                    <a:pt x="899826" y="449960"/>
                  </a:lnTo>
                  <a:lnTo>
                    <a:pt x="897187" y="498988"/>
                  </a:lnTo>
                  <a:lnTo>
                    <a:pt x="889452" y="546483"/>
                  </a:lnTo>
                  <a:lnTo>
                    <a:pt x="876897" y="592173"/>
                  </a:lnTo>
                  <a:lnTo>
                    <a:pt x="859794" y="635784"/>
                  </a:lnTo>
                  <a:lnTo>
                    <a:pt x="838418" y="677040"/>
                  </a:lnTo>
                  <a:lnTo>
                    <a:pt x="813043" y="715668"/>
                  </a:lnTo>
                  <a:lnTo>
                    <a:pt x="783944" y="751395"/>
                  </a:lnTo>
                  <a:lnTo>
                    <a:pt x="751394" y="783944"/>
                  </a:lnTo>
                  <a:lnTo>
                    <a:pt x="715668" y="813044"/>
                  </a:lnTo>
                  <a:lnTo>
                    <a:pt x="677040" y="838418"/>
                  </a:lnTo>
                  <a:lnTo>
                    <a:pt x="635783" y="859794"/>
                  </a:lnTo>
                  <a:lnTo>
                    <a:pt x="592173" y="876897"/>
                  </a:lnTo>
                  <a:lnTo>
                    <a:pt x="546483" y="889453"/>
                  </a:lnTo>
                  <a:lnTo>
                    <a:pt x="498988" y="897187"/>
                  </a:lnTo>
                  <a:lnTo>
                    <a:pt x="449960" y="899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20193" y="5799333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895311" y="510266"/>
                  </a:moveTo>
                  <a:lnTo>
                    <a:pt x="876903" y="592163"/>
                  </a:lnTo>
                  <a:lnTo>
                    <a:pt x="859800" y="635777"/>
                  </a:lnTo>
                  <a:lnTo>
                    <a:pt x="838423" y="677036"/>
                  </a:lnTo>
                  <a:lnTo>
                    <a:pt x="813046" y="715668"/>
                  </a:lnTo>
                  <a:lnTo>
                    <a:pt x="783945" y="751397"/>
                  </a:lnTo>
                  <a:lnTo>
                    <a:pt x="751392" y="783949"/>
                  </a:lnTo>
                  <a:lnTo>
                    <a:pt x="715662" y="813050"/>
                  </a:lnTo>
                  <a:lnTo>
                    <a:pt x="677031" y="838425"/>
                  </a:lnTo>
                  <a:lnTo>
                    <a:pt x="635770" y="859801"/>
                  </a:lnTo>
                  <a:lnTo>
                    <a:pt x="592156" y="876903"/>
                  </a:lnTo>
                  <a:lnTo>
                    <a:pt x="546463" y="889458"/>
                  </a:lnTo>
                  <a:lnTo>
                    <a:pt x="510266" y="895297"/>
                  </a:lnTo>
                </a:path>
                <a:path w="895350" h="895350">
                  <a:moveTo>
                    <a:pt x="389653" y="895316"/>
                  </a:moveTo>
                  <a:lnTo>
                    <a:pt x="307707" y="876886"/>
                  </a:lnTo>
                  <a:lnTo>
                    <a:pt x="264091" y="859779"/>
                  </a:lnTo>
                  <a:lnTo>
                    <a:pt x="222827" y="838400"/>
                  </a:lnTo>
                  <a:lnTo>
                    <a:pt x="184192" y="813022"/>
                  </a:lnTo>
                  <a:lnTo>
                    <a:pt x="148459" y="783920"/>
                  </a:lnTo>
                  <a:lnTo>
                    <a:pt x="115902" y="751367"/>
                  </a:lnTo>
                  <a:lnTo>
                    <a:pt x="86797" y="715640"/>
                  </a:lnTo>
                  <a:lnTo>
                    <a:pt x="61417" y="677010"/>
                  </a:lnTo>
                  <a:lnTo>
                    <a:pt x="40037" y="635753"/>
                  </a:lnTo>
                  <a:lnTo>
                    <a:pt x="22931" y="592144"/>
                  </a:lnTo>
                  <a:lnTo>
                    <a:pt x="10374" y="546455"/>
                  </a:lnTo>
                  <a:lnTo>
                    <a:pt x="2640" y="498961"/>
                  </a:lnTo>
                  <a:lnTo>
                    <a:pt x="0" y="449937"/>
                  </a:lnTo>
                  <a:lnTo>
                    <a:pt x="2645" y="400912"/>
                  </a:lnTo>
                  <a:lnTo>
                    <a:pt x="10384" y="353416"/>
                  </a:lnTo>
                  <a:lnTo>
                    <a:pt x="22946" y="307725"/>
                  </a:lnTo>
                  <a:lnTo>
                    <a:pt x="40055" y="264111"/>
                  </a:lnTo>
                  <a:lnTo>
                    <a:pt x="61438" y="222851"/>
                  </a:lnTo>
                  <a:lnTo>
                    <a:pt x="86820" y="184217"/>
                  </a:lnTo>
                  <a:lnTo>
                    <a:pt x="115926" y="148484"/>
                  </a:lnTo>
                  <a:lnTo>
                    <a:pt x="148483" y="115927"/>
                  </a:lnTo>
                  <a:lnTo>
                    <a:pt x="184215" y="86820"/>
                  </a:lnTo>
                  <a:lnTo>
                    <a:pt x="222849" y="61438"/>
                  </a:lnTo>
                  <a:lnTo>
                    <a:pt x="264110" y="40055"/>
                  </a:lnTo>
                  <a:lnTo>
                    <a:pt x="307723" y="22944"/>
                  </a:lnTo>
                  <a:lnTo>
                    <a:pt x="353415" y="10382"/>
                  </a:lnTo>
                  <a:lnTo>
                    <a:pt x="400911" y="2642"/>
                  </a:lnTo>
                  <a:lnTo>
                    <a:pt x="449937" y="0"/>
                  </a:lnTo>
                  <a:lnTo>
                    <a:pt x="498962" y="2637"/>
                  </a:lnTo>
                  <a:lnTo>
                    <a:pt x="546456" y="10371"/>
                  </a:lnTo>
                  <a:lnTo>
                    <a:pt x="592145" y="22929"/>
                  </a:lnTo>
                  <a:lnTo>
                    <a:pt x="635756" y="40035"/>
                  </a:lnTo>
                  <a:lnTo>
                    <a:pt x="677013" y="61415"/>
                  </a:lnTo>
                  <a:lnTo>
                    <a:pt x="715643" y="86796"/>
                  </a:lnTo>
                  <a:lnTo>
                    <a:pt x="751371" y="115901"/>
                  </a:lnTo>
                  <a:lnTo>
                    <a:pt x="783924" y="148459"/>
                  </a:lnTo>
                  <a:lnTo>
                    <a:pt x="813026" y="184192"/>
                  </a:lnTo>
                  <a:lnTo>
                    <a:pt x="838404" y="222829"/>
                  </a:lnTo>
                  <a:lnTo>
                    <a:pt x="859784" y="264093"/>
                  </a:lnTo>
                  <a:lnTo>
                    <a:pt x="876890" y="307711"/>
                  </a:lnTo>
                  <a:lnTo>
                    <a:pt x="889449" y="353407"/>
                  </a:lnTo>
                  <a:lnTo>
                    <a:pt x="895316" y="389655"/>
                  </a:lnTo>
                </a:path>
              </a:pathLst>
            </a:custGeom>
            <a:ln w="152519">
              <a:solidFill>
                <a:srgbClr val="247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214853" y="7683150"/>
              <a:ext cx="900430" cy="900430"/>
            </a:xfrm>
            <a:custGeom>
              <a:avLst/>
              <a:gdLst/>
              <a:ahLst/>
              <a:cxnLst/>
              <a:rect l="l" t="t" r="r" b="b"/>
              <a:pathLst>
                <a:path w="900430" h="900429">
                  <a:moveTo>
                    <a:pt x="449960" y="899826"/>
                  </a:moveTo>
                  <a:lnTo>
                    <a:pt x="400932" y="897187"/>
                  </a:lnTo>
                  <a:lnTo>
                    <a:pt x="353433" y="889452"/>
                  </a:lnTo>
                  <a:lnTo>
                    <a:pt x="307738" y="876897"/>
                  </a:lnTo>
                  <a:lnTo>
                    <a:pt x="264121" y="859794"/>
                  </a:lnTo>
                  <a:lnTo>
                    <a:pt x="222856" y="838418"/>
                  </a:lnTo>
                  <a:lnTo>
                    <a:pt x="184219" y="813043"/>
                  </a:lnTo>
                  <a:lnTo>
                    <a:pt x="148484" y="783944"/>
                  </a:lnTo>
                  <a:lnTo>
                    <a:pt x="115924" y="751394"/>
                  </a:lnTo>
                  <a:lnTo>
                    <a:pt x="86816" y="715668"/>
                  </a:lnTo>
                  <a:lnTo>
                    <a:pt x="61432" y="677040"/>
                  </a:lnTo>
                  <a:lnTo>
                    <a:pt x="40048" y="635783"/>
                  </a:lnTo>
                  <a:lnTo>
                    <a:pt x="22939" y="592173"/>
                  </a:lnTo>
                  <a:lnTo>
                    <a:pt x="10378" y="546483"/>
                  </a:lnTo>
                  <a:lnTo>
                    <a:pt x="2640" y="498988"/>
                  </a:lnTo>
                  <a:lnTo>
                    <a:pt x="0" y="449960"/>
                  </a:lnTo>
                  <a:lnTo>
                    <a:pt x="2640" y="400932"/>
                  </a:lnTo>
                  <a:lnTo>
                    <a:pt x="10378" y="353433"/>
                  </a:lnTo>
                  <a:lnTo>
                    <a:pt x="22939" y="307738"/>
                  </a:lnTo>
                  <a:lnTo>
                    <a:pt x="40048" y="264121"/>
                  </a:lnTo>
                  <a:lnTo>
                    <a:pt x="61432" y="222856"/>
                  </a:lnTo>
                  <a:lnTo>
                    <a:pt x="86816" y="184219"/>
                  </a:lnTo>
                  <a:lnTo>
                    <a:pt x="115924" y="148484"/>
                  </a:lnTo>
                  <a:lnTo>
                    <a:pt x="148484" y="115924"/>
                  </a:lnTo>
                  <a:lnTo>
                    <a:pt x="184219" y="86816"/>
                  </a:lnTo>
                  <a:lnTo>
                    <a:pt x="222856" y="61432"/>
                  </a:lnTo>
                  <a:lnTo>
                    <a:pt x="264121" y="40048"/>
                  </a:lnTo>
                  <a:lnTo>
                    <a:pt x="307738" y="22939"/>
                  </a:lnTo>
                  <a:lnTo>
                    <a:pt x="353433" y="10378"/>
                  </a:lnTo>
                  <a:lnTo>
                    <a:pt x="400932" y="2640"/>
                  </a:lnTo>
                  <a:lnTo>
                    <a:pt x="449960" y="0"/>
                  </a:lnTo>
                  <a:lnTo>
                    <a:pt x="498988" y="2640"/>
                  </a:lnTo>
                  <a:lnTo>
                    <a:pt x="546483" y="10378"/>
                  </a:lnTo>
                  <a:lnTo>
                    <a:pt x="592173" y="22939"/>
                  </a:lnTo>
                  <a:lnTo>
                    <a:pt x="635784" y="40048"/>
                  </a:lnTo>
                  <a:lnTo>
                    <a:pt x="677040" y="61432"/>
                  </a:lnTo>
                  <a:lnTo>
                    <a:pt x="715668" y="86816"/>
                  </a:lnTo>
                  <a:lnTo>
                    <a:pt x="751395" y="115924"/>
                  </a:lnTo>
                  <a:lnTo>
                    <a:pt x="783944" y="148484"/>
                  </a:lnTo>
                  <a:lnTo>
                    <a:pt x="813044" y="184219"/>
                  </a:lnTo>
                  <a:lnTo>
                    <a:pt x="838418" y="222856"/>
                  </a:lnTo>
                  <a:lnTo>
                    <a:pt x="859794" y="264121"/>
                  </a:lnTo>
                  <a:lnTo>
                    <a:pt x="876897" y="307738"/>
                  </a:lnTo>
                  <a:lnTo>
                    <a:pt x="889453" y="353433"/>
                  </a:lnTo>
                  <a:lnTo>
                    <a:pt x="897187" y="400932"/>
                  </a:lnTo>
                  <a:lnTo>
                    <a:pt x="899826" y="449960"/>
                  </a:lnTo>
                  <a:lnTo>
                    <a:pt x="897187" y="498988"/>
                  </a:lnTo>
                  <a:lnTo>
                    <a:pt x="889453" y="546483"/>
                  </a:lnTo>
                  <a:lnTo>
                    <a:pt x="876897" y="592173"/>
                  </a:lnTo>
                  <a:lnTo>
                    <a:pt x="859794" y="635783"/>
                  </a:lnTo>
                  <a:lnTo>
                    <a:pt x="838418" y="677040"/>
                  </a:lnTo>
                  <a:lnTo>
                    <a:pt x="813044" y="715668"/>
                  </a:lnTo>
                  <a:lnTo>
                    <a:pt x="783944" y="751394"/>
                  </a:lnTo>
                  <a:lnTo>
                    <a:pt x="751395" y="783944"/>
                  </a:lnTo>
                  <a:lnTo>
                    <a:pt x="715668" y="813043"/>
                  </a:lnTo>
                  <a:lnTo>
                    <a:pt x="677040" y="838418"/>
                  </a:lnTo>
                  <a:lnTo>
                    <a:pt x="635784" y="859794"/>
                  </a:lnTo>
                  <a:lnTo>
                    <a:pt x="592173" y="876897"/>
                  </a:lnTo>
                  <a:lnTo>
                    <a:pt x="546483" y="889452"/>
                  </a:lnTo>
                  <a:lnTo>
                    <a:pt x="498988" y="897187"/>
                  </a:lnTo>
                  <a:lnTo>
                    <a:pt x="449960" y="899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214852" y="7683149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895310" y="510268"/>
                  </a:moveTo>
                  <a:lnTo>
                    <a:pt x="876903" y="592163"/>
                  </a:lnTo>
                  <a:lnTo>
                    <a:pt x="859800" y="635777"/>
                  </a:lnTo>
                  <a:lnTo>
                    <a:pt x="838423" y="677036"/>
                  </a:lnTo>
                  <a:lnTo>
                    <a:pt x="813046" y="715668"/>
                  </a:lnTo>
                  <a:lnTo>
                    <a:pt x="783945" y="751397"/>
                  </a:lnTo>
                  <a:lnTo>
                    <a:pt x="751392" y="783949"/>
                  </a:lnTo>
                  <a:lnTo>
                    <a:pt x="715662" y="813050"/>
                  </a:lnTo>
                  <a:lnTo>
                    <a:pt x="677030" y="838425"/>
                  </a:lnTo>
                  <a:lnTo>
                    <a:pt x="635770" y="859801"/>
                  </a:lnTo>
                  <a:lnTo>
                    <a:pt x="592156" y="876903"/>
                  </a:lnTo>
                  <a:lnTo>
                    <a:pt x="546463" y="889457"/>
                  </a:lnTo>
                  <a:lnTo>
                    <a:pt x="510264" y="895298"/>
                  </a:lnTo>
                </a:path>
                <a:path w="895350" h="895350">
                  <a:moveTo>
                    <a:pt x="389655" y="895316"/>
                  </a:moveTo>
                  <a:lnTo>
                    <a:pt x="307707" y="876886"/>
                  </a:lnTo>
                  <a:lnTo>
                    <a:pt x="264091" y="859779"/>
                  </a:lnTo>
                  <a:lnTo>
                    <a:pt x="222827" y="838399"/>
                  </a:lnTo>
                  <a:lnTo>
                    <a:pt x="184192" y="813022"/>
                  </a:lnTo>
                  <a:lnTo>
                    <a:pt x="148459" y="783919"/>
                  </a:lnTo>
                  <a:lnTo>
                    <a:pt x="115903" y="751367"/>
                  </a:lnTo>
                  <a:lnTo>
                    <a:pt x="86797" y="715639"/>
                  </a:lnTo>
                  <a:lnTo>
                    <a:pt x="61417" y="677010"/>
                  </a:lnTo>
                  <a:lnTo>
                    <a:pt x="40037" y="635753"/>
                  </a:lnTo>
                  <a:lnTo>
                    <a:pt x="22932" y="592143"/>
                  </a:lnTo>
                  <a:lnTo>
                    <a:pt x="10374" y="546455"/>
                  </a:lnTo>
                  <a:lnTo>
                    <a:pt x="2640" y="498961"/>
                  </a:lnTo>
                  <a:lnTo>
                    <a:pt x="0" y="449937"/>
                  </a:lnTo>
                  <a:lnTo>
                    <a:pt x="2645" y="400912"/>
                  </a:lnTo>
                  <a:lnTo>
                    <a:pt x="10384" y="353416"/>
                  </a:lnTo>
                  <a:lnTo>
                    <a:pt x="22946" y="307725"/>
                  </a:lnTo>
                  <a:lnTo>
                    <a:pt x="40055" y="264111"/>
                  </a:lnTo>
                  <a:lnTo>
                    <a:pt x="61438" y="222851"/>
                  </a:lnTo>
                  <a:lnTo>
                    <a:pt x="86820" y="184217"/>
                  </a:lnTo>
                  <a:lnTo>
                    <a:pt x="115926" y="148484"/>
                  </a:lnTo>
                  <a:lnTo>
                    <a:pt x="148483" y="115927"/>
                  </a:lnTo>
                  <a:lnTo>
                    <a:pt x="184215" y="86820"/>
                  </a:lnTo>
                  <a:lnTo>
                    <a:pt x="222849" y="61438"/>
                  </a:lnTo>
                  <a:lnTo>
                    <a:pt x="264110" y="40055"/>
                  </a:lnTo>
                  <a:lnTo>
                    <a:pt x="307723" y="22944"/>
                  </a:lnTo>
                  <a:lnTo>
                    <a:pt x="353415" y="10382"/>
                  </a:lnTo>
                  <a:lnTo>
                    <a:pt x="400911" y="2642"/>
                  </a:lnTo>
                  <a:lnTo>
                    <a:pt x="449937" y="0"/>
                  </a:lnTo>
                  <a:lnTo>
                    <a:pt x="498962" y="2637"/>
                  </a:lnTo>
                  <a:lnTo>
                    <a:pt x="546456" y="10371"/>
                  </a:lnTo>
                  <a:lnTo>
                    <a:pt x="592145" y="22929"/>
                  </a:lnTo>
                  <a:lnTo>
                    <a:pt x="635756" y="40035"/>
                  </a:lnTo>
                  <a:lnTo>
                    <a:pt x="677013" y="61415"/>
                  </a:lnTo>
                  <a:lnTo>
                    <a:pt x="715643" y="86795"/>
                  </a:lnTo>
                  <a:lnTo>
                    <a:pt x="751372" y="115901"/>
                  </a:lnTo>
                  <a:lnTo>
                    <a:pt x="783924" y="148458"/>
                  </a:lnTo>
                  <a:lnTo>
                    <a:pt x="813027" y="184192"/>
                  </a:lnTo>
                  <a:lnTo>
                    <a:pt x="838405" y="222829"/>
                  </a:lnTo>
                  <a:lnTo>
                    <a:pt x="859784" y="264093"/>
                  </a:lnTo>
                  <a:lnTo>
                    <a:pt x="876890" y="307710"/>
                  </a:lnTo>
                  <a:lnTo>
                    <a:pt x="889450" y="353407"/>
                  </a:lnTo>
                  <a:lnTo>
                    <a:pt x="895316" y="389653"/>
                  </a:lnTo>
                </a:path>
              </a:pathLst>
            </a:custGeom>
            <a:ln w="152519">
              <a:solidFill>
                <a:srgbClr val="6DBE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5884" y="321453"/>
            <a:ext cx="3373746" cy="1593503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756293" y="349250"/>
            <a:ext cx="99345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5020" algn="l"/>
                <a:tab pos="6262370" algn="l"/>
              </a:tabLst>
            </a:pPr>
            <a:r>
              <a:rPr spc="-10" dirty="0"/>
              <a:t>FEASIBILITY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VIABILITY</a:t>
            </a:r>
          </a:p>
        </p:txBody>
      </p:sp>
      <p:sp>
        <p:nvSpPr>
          <p:cNvPr id="20" name="object 20"/>
          <p:cNvSpPr/>
          <p:nvPr/>
        </p:nvSpPr>
        <p:spPr>
          <a:xfrm>
            <a:off x="475612" y="359320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5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8" y="808004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2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9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3088" y="508547"/>
            <a:ext cx="1286712" cy="8489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034" marR="5080" indent="-13970">
              <a:lnSpc>
                <a:spcPts val="3220"/>
              </a:lnSpc>
              <a:spcBef>
                <a:spcPts val="220"/>
              </a:spcBef>
            </a:pPr>
            <a:r>
              <a:rPr lang="en-US" sz="2800" b="0" dirty="0">
                <a:latin typeface="Calibri"/>
                <a:cs typeface="Calibri"/>
              </a:rPr>
              <a:t>   Byte</a:t>
            </a:r>
            <a:br>
              <a:rPr lang="en-US" sz="2800" b="0" dirty="0">
                <a:latin typeface="Calibri"/>
                <a:cs typeface="Calibri"/>
              </a:rPr>
            </a:br>
            <a:r>
              <a:rPr lang="en-US" sz="2800" b="0" dirty="0">
                <a:latin typeface="Calibri"/>
                <a:cs typeface="Calibri"/>
              </a:rPr>
              <a:t>Builders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31615" y="2194961"/>
            <a:ext cx="16383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247DC1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214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4" name="object 24"/>
          <p:cNvSpPr txBox="1"/>
          <p:nvPr/>
        </p:nvSpPr>
        <p:spPr>
          <a:xfrm>
            <a:off x="15354219" y="2045773"/>
            <a:ext cx="2753360" cy="673902"/>
          </a:xfrm>
          <a:prstGeom prst="rect">
            <a:avLst/>
          </a:prstGeom>
          <a:noFill/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5"/>
              </a:spcBef>
            </a:pPr>
            <a:r>
              <a:rPr lang="en-IN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Data Foundation</a:t>
            </a:r>
            <a:endParaRPr sz="21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530909" y="4207646"/>
            <a:ext cx="16383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247DC1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37414" y="3907650"/>
            <a:ext cx="3027394" cy="67390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5"/>
              </a:spcBef>
            </a:pPr>
            <a:r>
              <a:rPr lang="en-IN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Multi-Hop Transaction Intelligence</a:t>
            </a:r>
            <a:endParaRPr sz="21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583099" y="6091463"/>
            <a:ext cx="16383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247DC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402635" y="5769527"/>
            <a:ext cx="2626995" cy="67390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5"/>
              </a:spcBef>
            </a:pPr>
            <a:r>
              <a:rPr lang="en-IN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Forensic Investigation Platform</a:t>
            </a:r>
            <a:endParaRPr sz="21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583099" y="7975279"/>
            <a:ext cx="16383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6DBE4A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55461" y="7815465"/>
            <a:ext cx="3373745" cy="67390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15"/>
              </a:spcBef>
            </a:pPr>
            <a:r>
              <a:rPr lang="en-IN" sz="2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&amp; Scalable Deployment</a:t>
            </a:r>
            <a:endParaRPr sz="21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87691" y="2151213"/>
            <a:ext cx="768985" cy="300355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32323"/>
                </a:solidFill>
                <a:latin typeface="Times New Roman"/>
                <a:cs typeface="Times New Roman"/>
              </a:rPr>
              <a:t>Phase</a:t>
            </a:r>
            <a:r>
              <a:rPr sz="1800" b="1" spc="-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232323"/>
                </a:solidFill>
                <a:latin typeface="Times New Roman"/>
                <a:cs typeface="Times New Roman"/>
              </a:rPr>
              <a:t>1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87691" y="4198216"/>
            <a:ext cx="768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32323"/>
                </a:solidFill>
                <a:latin typeface="Times New Roman"/>
                <a:cs typeface="Times New Roman"/>
              </a:rPr>
              <a:t>Phase</a:t>
            </a:r>
            <a:r>
              <a:rPr sz="1800" b="1" spc="-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232323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44296" y="6071565"/>
            <a:ext cx="768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32323"/>
                </a:solidFill>
                <a:latin typeface="Times New Roman"/>
                <a:cs typeface="Times New Roman"/>
              </a:rPr>
              <a:t>Phase</a:t>
            </a:r>
            <a:r>
              <a:rPr sz="1800" b="1" spc="-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232323"/>
                </a:solidFill>
                <a:latin typeface="Times New Roman"/>
                <a:cs typeface="Times New Roman"/>
              </a:rPr>
              <a:t>3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44296" y="7993300"/>
            <a:ext cx="768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32323"/>
                </a:solidFill>
                <a:latin typeface="Times New Roman"/>
                <a:cs typeface="Times New Roman"/>
              </a:rPr>
              <a:t>Phase</a:t>
            </a:r>
            <a:r>
              <a:rPr sz="1800" b="1" spc="-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232323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E73E80D-DC7C-29E1-819C-DD5723666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42" y="1810510"/>
            <a:ext cx="10893219" cy="786867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B847BA2-7484-3078-22ED-512DCC18C99B}"/>
              </a:ext>
            </a:extLst>
          </p:cNvPr>
          <p:cNvSpPr txBox="1"/>
          <p:nvPr/>
        </p:nvSpPr>
        <p:spPr>
          <a:xfrm>
            <a:off x="11132743" y="4546404"/>
            <a:ext cx="3506154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Phase 2: Multi-Hop Transaction Intelligence — NetworkX graph-based fund-flow reconstruction, 1-to-5 hop BFS tracing, 11-rule deterministic risk scoring, peeling chain &amp; fan-out detection.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FB7363-1D06-BED2-8C40-8F5516C1B7D4}"/>
              </a:ext>
            </a:extLst>
          </p:cNvPr>
          <p:cNvSpPr txBox="1"/>
          <p:nvPr/>
        </p:nvSpPr>
        <p:spPr>
          <a:xfrm>
            <a:off x="10898136" y="2634196"/>
            <a:ext cx="397536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Phase 1: Blockchain Data Foundation — Real-time Web3.py RPC &amp; Etherscan API data ingestion, EIP-55 wallet validation, token-transfer parsing establishing core forensic data pipeline.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795946-7154-BCED-D372-7B12DBB72B6E}"/>
              </a:ext>
            </a:extLst>
          </p:cNvPr>
          <p:cNvSpPr txBox="1"/>
          <p:nvPr/>
        </p:nvSpPr>
        <p:spPr>
          <a:xfrm>
            <a:off x="11061965" y="6632903"/>
            <a:ext cx="424967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Phase 3: Forensic Investigation Platform — Interactive Cytoscape.js transaction graphs, automated VASP entity attribution, SHA-256 evidence locker, BSA Sec 63 ReportLab PDF dossier export.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BF24CA-3CB7-7070-1208-24BB5DB602EF}"/>
              </a:ext>
            </a:extLst>
          </p:cNvPr>
          <p:cNvSpPr txBox="1"/>
          <p:nvPr/>
        </p:nvSpPr>
        <p:spPr>
          <a:xfrm>
            <a:off x="11216307" y="8339828"/>
            <a:ext cx="382636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Phase 4: Continuous Monitoring &amp; Scalable Deployment — Real-time NCRP 1930 webhooks, automated Section 91 CrPC subpoena priority ranker, multi-chain expansion, and Render cloud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16053" y="589756"/>
            <a:ext cx="8027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64815" algn="l"/>
                <a:tab pos="4622165" algn="l"/>
              </a:tabLst>
            </a:pPr>
            <a:r>
              <a:rPr sz="5400" b="1" spc="-10" dirty="0">
                <a:latin typeface="Times New Roman"/>
                <a:cs typeface="Times New Roman"/>
              </a:rPr>
              <a:t>IMPACT</a:t>
            </a:r>
            <a:r>
              <a:rPr sz="5400" b="1" dirty="0">
                <a:latin typeface="Times New Roman"/>
                <a:cs typeface="Times New Roman"/>
              </a:rPr>
              <a:t>	</a:t>
            </a:r>
            <a:r>
              <a:rPr sz="5400" b="1" spc="-25" dirty="0">
                <a:latin typeface="Times New Roman"/>
                <a:cs typeface="Times New Roman"/>
              </a:rPr>
              <a:t>AND</a:t>
            </a:r>
            <a:r>
              <a:rPr sz="5400" b="1" dirty="0">
                <a:latin typeface="Times New Roman"/>
                <a:cs typeface="Times New Roman"/>
              </a:rPr>
              <a:t>	</a:t>
            </a:r>
            <a:r>
              <a:rPr sz="5400" b="1" spc="-10" dirty="0">
                <a:latin typeface="Times New Roman"/>
                <a:cs typeface="Times New Roman"/>
              </a:rPr>
              <a:t>BENEFITS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5612" y="359320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5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8" y="808004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2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9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23088" y="508547"/>
            <a:ext cx="1210512" cy="8489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034" marR="5080" indent="-13970">
              <a:lnSpc>
                <a:spcPts val="3220"/>
              </a:lnSpc>
              <a:spcBef>
                <a:spcPts val="220"/>
              </a:spcBef>
            </a:pPr>
            <a:r>
              <a:rPr lang="en-US" sz="2800" b="0" dirty="0">
                <a:latin typeface="Calibri"/>
                <a:cs typeface="Calibri"/>
              </a:rPr>
              <a:t>   Byte</a:t>
            </a:r>
            <a:br>
              <a:rPr lang="en-US" sz="2800" b="0" dirty="0">
                <a:latin typeface="Calibri"/>
                <a:cs typeface="Calibri"/>
              </a:rPr>
            </a:br>
            <a:r>
              <a:rPr lang="en-US" sz="2800" b="0" dirty="0">
                <a:latin typeface="Calibri"/>
                <a:cs typeface="Calibri"/>
              </a:rPr>
              <a:t>Builders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129" y="2247"/>
            <a:ext cx="3373746" cy="159350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214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2BB589-499A-CE99-688F-628FC1545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0" y="1976852"/>
            <a:ext cx="1923319" cy="70483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A574E9-D3AC-A7D2-9BD4-C315ABAF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996904"/>
            <a:ext cx="14509421" cy="7014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35728"/>
            <a:ext cx="18288000" cy="651510"/>
          </a:xfrm>
          <a:custGeom>
            <a:avLst/>
            <a:gdLst/>
            <a:ahLst/>
            <a:cxnLst/>
            <a:rect l="l" t="t" r="r" b="b"/>
            <a:pathLst>
              <a:path w="18288000" h="651509">
                <a:moveTo>
                  <a:pt x="18287570" y="0"/>
                </a:moveTo>
                <a:lnTo>
                  <a:pt x="18287570" y="651271"/>
                </a:lnTo>
                <a:lnTo>
                  <a:pt x="0" y="651271"/>
                </a:lnTo>
                <a:lnTo>
                  <a:pt x="0" y="0"/>
                </a:lnTo>
                <a:lnTo>
                  <a:pt x="18287570" y="0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  <a:tab pos="5822950" algn="l"/>
              </a:tabLst>
            </a:pPr>
            <a:r>
              <a:rPr spc="-10" dirty="0"/>
              <a:t>RESEARCH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656906" y="164377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5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8" y="808004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2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9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9495" y="363789"/>
            <a:ext cx="1551936" cy="8489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6034" marR="5080" indent="-13970">
              <a:lnSpc>
                <a:spcPts val="3220"/>
              </a:lnSpc>
              <a:spcBef>
                <a:spcPts val="220"/>
              </a:spcBef>
            </a:pPr>
            <a:r>
              <a:rPr lang="en-US" sz="2800" b="0" dirty="0">
                <a:latin typeface="Calibri"/>
                <a:cs typeface="Calibri"/>
              </a:rPr>
              <a:t>   Byte</a:t>
            </a:r>
            <a:br>
              <a:rPr lang="en-US" sz="2800" b="0" dirty="0">
                <a:latin typeface="Calibri"/>
                <a:cs typeface="Calibri"/>
              </a:rPr>
            </a:br>
            <a:r>
              <a:rPr lang="en-US" sz="2800" b="0" dirty="0">
                <a:latin typeface="Calibri"/>
                <a:cs typeface="Calibri"/>
              </a:rPr>
              <a:t>Builders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3585" rIns="0" bIns="0" rtlCol="0">
            <a:spAutoFit/>
          </a:bodyPr>
          <a:lstStyle/>
          <a:p>
            <a:pPr marL="652145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33651" y="9862566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A499E2-39F1-BFDB-19F4-F2035998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95" y="1439577"/>
            <a:ext cx="17738605" cy="81548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326</Words>
  <Application>Microsoft Office PowerPoint</Application>
  <PresentationFormat>Custom</PresentationFormat>
  <Paragraphs>75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Garamond</vt:lpstr>
      <vt:lpstr>Times New Roman</vt:lpstr>
      <vt:lpstr>Office Theme</vt:lpstr>
      <vt:lpstr>SMART INDIA HACKATHON 2026</vt:lpstr>
      <vt:lpstr>   Byte Builders</vt:lpstr>
      <vt:lpstr>TECHNICAL APPROACH</vt:lpstr>
      <vt:lpstr>FEASIBILITY AND VIABILITY</vt:lpstr>
      <vt:lpstr>   Byte Builders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SIH26142</dc:title>
  <dc:creator>Abhiram reddy Palle</dc:creator>
  <cp:keywords>DAHUCHmJ0BY,BAGx1MliH6I</cp:keywords>
  <cp:lastModifiedBy>THAMMISHETTI YASHWANTH KUMAR</cp:lastModifiedBy>
  <cp:revision>3</cp:revision>
  <dcterms:created xsi:type="dcterms:W3CDTF">2026-09-08T16:47:51Z</dcterms:created>
  <dcterms:modified xsi:type="dcterms:W3CDTF">2026-09-09T04:07:43Z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2026-09-08T00:00:00Z</vt:filetime>
  </property>
  <property fmtid="{D5CDD505-2E9C-101B-9397-08002B2CF9AE}" pid="5" name="Producer">
    <vt:lpwstr>Canva</vt:lpwstr>
  </property>
</Properties>
</file>